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a4e42b5-69ca-3047-3d61-e2f2f1f6ad2d}">
          <p14:sldIdLst>
            <p14:sldId id="256"/>
          </p14:sldIdLst>
        </p14:section>
        <p14:section name="Problem" id="{3855db11-53c0-0cd6-10b2-a852b2083559}">
          <p14:sldIdLst>
            <p14:sldId id="257"/>
          </p14:sldIdLst>
        </p14:section>
        <p14:section name="Solution" id="{62b98eac-913b-7809-bc95-33491e326696}">
          <p14:sldIdLst>
            <p14:sldId id="258"/>
            <p14:sldId id="259"/>
          </p14:sldIdLst>
        </p14:section>
        <p14:section name="Demo" id="{22b0b24e-f40c-3d90-0c81-8a1a2dcbd536}">
          <p14:sldIdLst>
            <p14:sldId id="260"/>
          </p14:sldIdLst>
        </p14:section>
        <p14:section name="Security" id="{168174a2-e808-77f3-c6cd-0ccdf17397d7}">
          <p14:sldIdLst>
            <p14:sldId id="261"/>
            <p14:sldId id="262"/>
            <p14:sldId id="263"/>
          </p14:sldIdLst>
        </p14:section>
        <p14:section name="Evidence" id="{d6dbd465-c09f-5324-ac3c-3c01722cd1df}">
          <p14:sldIdLst>
            <p14:sldId id="264"/>
            <p14:sldId id="265"/>
            <p14:sldId id="266"/>
          </p14:sldIdLst>
        </p14:section>
        <p14:section name="Closing" id="{b3134837-2640-d21b-24ac-34b45c898944}">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293B"/>
                </a:solidFill>
                <a:latin typeface="+mn-lt"/>
              </a:defRPr>
            </a:pPr>
            <a:r>
              <a:rPr sz="1300" b="0" i="0" u="none" strike="noStrike">
                <a:solidFill>
                  <a:srgbClr val="1E293B"/>
                </a:solidFill>
                <a:latin typeface="+mn-lt"/>
              </a:rPr>
              <a:t>Tests passing (all suites 100% green)</a:t>
            </a:r>
          </a:p>
        </c:rich>
      </c:tx>
      <c:layout/>
      <c:overlay val="0"/>
    </c:title>
    <c:autoTitleDeleted val="0"/>
    <c:plotArea>
      <c:layout/>
      <c:barChart>
        <c:barDir val="bar"/>
        <c:grouping val="clustered"/>
        <c:varyColors val="0"/>
        <c:ser>
          <c:idx val="0"/>
          <c:order val="0"/>
          <c:tx>
            <c:strRef>
              <c:f>Sheet1!$B$1</c:f>
              <c:strCache>
                <c:ptCount val="1"/>
                <c:pt idx="0">
                  <c:v>passing</c:v>
                </c:pt>
              </c:strCache>
            </c:strRef>
          </c:tx>
          <c:spPr>
            <a:solidFill>
              <a:srgbClr val="0F766E"/>
            </a:solidFill>
            <a:effectLst/>
          </c:spPr>
          <c:invertIfNegative val="0"/>
          <c:dLbls>
            <c:numFmt formatCode="#,##0" sourceLinked="0"/>
            <c:txPr>
              <a:bodyPr/>
              <a:lstStyle/>
              <a:p>
                <a:pPr>
                  <a:defRPr b="0" i="0" strike="noStrike" sz="1200" u="none">
                    <a:solidFill>
                      <a:srgbClr val="1E293B"/>
                    </a:solidFill>
                    <a:latin typeface="+mn-lt"/>
                  </a:defRPr>
                </a:pPr>
              </a:p>
            </c:txPr>
            <c:showLegendKey val="0"/>
            <c:showVal val="1"/>
            <c:showCatName val="0"/>
            <c:showSerName val="0"/>
            <c:showPercent val="0"/>
            <c:showBubbleSize val="0"/>
            <c:showLeaderLines val="0"/>
          </c:dLbls>
          <c:cat>
            <c:multiLvlStrRef>
              <c:f>Sheet1!$A$2:$A$4</c:f>
              <c:multiLvlStrCache>
                <c:ptCount val="3"/>
                <c:lvl>
                  <c:pt idx="0">
                    <c:v>Smart-contract tests</c:v>
                  </c:pt>
                  <c:pt idx="1">
                    <c:v>Python tests</c:v>
                  </c:pt>
                  <c:pt idx="2">
                    <c:v>Evaluation scenarios</c:v>
                  </c:pt>
                </c:lvl>
              </c:multiLvlStrCache>
            </c:multiLvlStrRef>
          </c:cat>
          <c:val>
            <c:numRef>
              <c:f>Sheet1!$B$2:$B$4</c:f>
              <c:numCache>
                <c:formatCode>General</c:formatCode>
                <c:ptCount val="3"/>
                <c:pt idx="0">
                  <c:v>18</c:v>
                </c:pt>
                <c:pt idx="1">
                  <c:v>55</c:v>
                </c:pt>
                <c:pt idx="2">
                  <c:v>42</c:v>
                </c:pt>
              </c:numCache>
            </c:numRef>
          </c:val>
        </c:ser>
        <c:dLbls>
          <c:numFmt formatCode="#,##0" sourceLinked="0"/>
          <c:txPr>
            <a:bodyPr/>
            <a:lstStyle/>
            <a:p>
              <a:pPr>
                <a:defRPr b="0" i="0" strike="noStrike" sz="1200" u="none">
                  <a:solidFill>
                    <a:srgbClr val="1E293B"/>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34155"/>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afternoon. We are team [TEAM NAME] from Institut Teknologi Bandung, Indonesia. This is Kendali, which means 'control' in Indonesian. Kendali is an AI agent that acts as the finance clerk of a small business. It reads invoices, pays suppliers on-chain and manages the treasury on its own. And it is built so that it cannot be tricked into losing the money it controls. Our whole design fits in one sentence: the LLM proposes, the policy decides, the contract enforces.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Meet Kopi Nusantara Roastery, our persona: a coffee exporter in Bandung with nine staff and suppliers in three countries, and no finance team. An AI agent that pays bills would save them hours every week. But an agent that holds a key becomes a target. Fraud is everywhere: Indonesia's Anti-Scam Centre received over seven hundred thousand scam reports in under two years. We see three ways to attack such an agent: documents that give it orders, invoices that quietly change the destination wallet, and servers that get hacked so the key itself is stolen. Kendali is designed against all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architecture. Layer one, Understand: an LLM — any OpenAI-compatible model, including DeepSeek or Qwen — together with a deterministic extractor turns invoices and chat into structured data from a closed set of intents. The model never sees a key and never chooses who gets paid. Layer two, Decide: a deterministic policy engine binds every payee to its verified KYB wallet, screens addresses, detects fraud patterns, checks limits, liquidity and due dates, and simulates the exact transaction before signing. Layer three, Enforce: our KendaliVault contract. Even if layers one and two are fully compromised, the agent's key can only pay allow-listed vendors within hard limits. The owner keeps a separate key for approvals, and every decision is hashed and anchored on-chain for audit.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Kendali is not a chatbot — it is a financial participant that completes real tasks. It pays supplier invoices from text or PDF, in English or Indonesian. Anything large, new or unusual becomes an on-chain proposal that only the owner can approve — classic maker-checker. It pays recurring obligations on their day and never twice. It runs the treasury: keeps enough runway for upcoming bills and parks idle cash in an ERC-4626 reserve, withdrawing automatically before a payment. The owner talks to it like a colleague, and every decision can be proven afterwards. Each card shows the evaluation scenarios that test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live console. The owner types one sentence: pay all invoices due this week. Thirteen invoices are waiting. In a few seconds Kendali pays the one invoice that passes every check, sends four to the owner's approval queue — a large one, a new payee still in its cooling-off period, an amount anomaly and an invoice that does not add up — holds one that is not yet due, and blocks seven attacks. The blocked ones include a business-email-compromise invoice with a changed wallet, a prompt injection hidden in the notes, a duplicate reminder, a homoglyph imitation of a real vendor, an address-poisoning decoy, an unknown issuer and a sanctioned counterparty. Not a single token reached an attacker, and every blocked decision is anchored on-chain.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attacked our own agent systematically: twenty-three attack scenarios. Document-level attacks such as business email compromise, prompt injection in English and Indonesian — even split with invisible zero-width characters — address poisoning, homoglyph names, sanctioned vendors and duplicates are all blocked. Suspicious but possibly legitimate cases, like an inflated amount, go to a human instead of being paid. Chat attacks — pretending to be the owner, asking to pay a raw address, to raise a limit or to grant a token allowance — are refused by deterministic mandate checks that the LLM cannot override. And with a stolen agent key, all six on-chain attack variants revert. Even tampering with our own audit log is detected.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Permissions are tiered. Tier zero is read-only. Tier one is what the agent may do alone: pay allow-listed vendors that have passed a cooling-off period, at most one thousand per payment and two and a half thousand per day, plus treasury moves and the emergency pause. Tier two is maker-checker: the agent proposes, the owner approves. Tier three is governance and belongs only to the owner, and loosening a limit is time-locked for two days. The key point: tiers one to three are enforced by the smart contract, not by the prompt. So the worst case with a stolen agent key is small and bounded — and the owner can pause or revoke the key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contract layer, KendaliVault. On the left you see our live red-team button: we sign attacks with the agent's own key — pay the attacker, pay above the limit, add a payee, raise limits, approve our own proposal, unpause — and the contract rejects every one, with a precise custom error. The rules are simple: an allow-list with cooling-off, solo limits per payment and per day, owner approval above that, a two-day timelock on loosening, and a circuit breaker. We did not just unit-test this. Stateful fuzzing throws thousands of random call sequences at the vault, and four invariants always hold: the attacker is never paid, daily outflow never exceeds the limit, governance never changes and custody is conserved.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we just claimed is measured. Our evaluation harness runs forty-two scenarios — nineteen legitimate tasks and twenty-three attacks — each on a fresh blockchain snapshot. All forty-two pass: one hundred percent task completion, one hundred percent attack prevention, and zero tokens to any attacker wallet. Underneath that sit eighteen smart-contract tests including fuzzing and invariants, and fifty-five Python tests, including the LLM path and an end-to-end on-chain run. Judges can reproduce everything with three commands and no API key, and our public-testnet run provides real transaction hashes, including a reverted stolen-key transaction.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bank, controls matter as much as features. Kendali implements the controls a treasury department would expect: four-eyes approval, segregation of duties, beneficiary verification against business email compromise, cooling-off for new beneficiaries, sanctions screening, limits with time-locked changes, and a kill switch. On the right is what makes the AI auditable: every decision record is hashed before signing, the hash travels inside the transaction, and anyone can later recompute it and check it against the chain. That turns the AI's reasoning into verifiable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make your evaluation easy, here is how Kendali maps to the three criteria. Task completion: nineteen real tasks done end-to-end with on-chain transactions. Security and compliance: three independent layers, four permission tiers enforced on-chain, twenty-three attacks stopped and invariants proven by fuzzing — plus an honest list of residual risks. Innovation and interaction: on-chain decision anchoring makes the AI verifiable, the bilingual chat fits Indonesian small businesses, and it runs on any OpenAI-compatible model. For the on-chain challenge we built a custom policy vault and a reserve, not just a wallet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Kendali shows that an AI agent can be a real financial participant — paying, approving, saving — while every dangerous power stays behind rules it cannot argue with, and every decision stays verifiable. Our path to production is a multisig owner with session keys, live sanctions feeds and settlement in regulated instruments such as tokenized deposits on permissioned EVM chains like FISCO BCOS, piloting with cross-border small businesses between Indonesia, Singapore and Shenzhen. Autonomy you can verify. Thank you — we are happy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D_TITLE">
    <p:bg>
      <p:bgPr>
        <a:solidFill>
          <a:srgbClr val="0F172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6949440" cy="1280160"/>
          </a:xfrm>
          <a:prstGeom prst="rect">
            <a:avLst/>
          </a:prstGeom>
          <a:noFill/>
          <a:ln/>
        </p:spPr>
        <p:txBody>
          <a:bodyPr wrap="square" rtlCol="0"/>
          <a:lstStyle>
            <a:lvl1pPr indent="0" marL="0">
              <a:buNone/>
              <a:defRPr lang="en-US" sz="6000" b="1" dirty="0">
                <a:solidFill>
                  <a:schemeClr val="bg1"/>
                </a:solidFill>
              </a:defRPr>
            </a:lvl1pPr>
          </a:lstStyle>
          <a:p>
            <a:pPr indent="0" marL="0">
              <a:buNone/>
            </a:pPr>
            <a:endParaRPr lang="en-US" sz="6000" dirty="0"/>
          </a:p>
        </p:txBody>
      </p:sp>
      <p:sp>
        <p:nvSpPr>
          <p:cNvPr id="3" name="Text 0"/>
          <p:cNvSpPr/>
          <p:nvPr>
            <p:ph idx="101" type="body" hasCustomPrompt="1"/>
          </p:nvPr>
        </p:nvSpPr>
        <p:spPr>
          <a:xfrm>
            <a:off x="731520" y="3246120"/>
            <a:ext cx="6766560" cy="1463040"/>
          </a:xfrm>
          <a:prstGeom prst="rect">
            <a:avLst/>
          </a:prstGeom>
          <a:noFill/>
          <a:ln/>
        </p:spPr>
        <p:txBody>
          <a:bodyPr wrap="square" rtlCol="0"/>
          <a:lstStyle>
            <a:lvl1pPr indent="0" marL="0">
              <a:buNone/>
              <a:defRPr lang="en-US" sz="2200" dirty="0">
                <a:solidFill>
                  <a:srgbClr val="CBD5E1"/>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D_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1188720"/>
          </a:xfrm>
          <a:prstGeom prst="rect">
            <a:avLst/>
          </a:prstGeom>
          <a:noFill/>
          <a:ln/>
        </p:spPr>
        <p:txBody>
          <a:bodyPr wrap="square" rtlCol="0"/>
          <a:lstStyle>
            <a:lvl1pPr indent="0" marL="0">
              <a:buNone/>
              <a:defRPr lang="en-US" sz="3400" b="1" dirty="0">
                <a:solidFill>
                  <a:schemeClr val="tx1"/>
                </a:solidFill>
              </a:defRPr>
            </a:lvl1pPr>
          </a:lstStyle>
          <a:p>
            <a:pPr indent="0" marL="0">
              <a:buNone/>
            </a:pPr>
            <a:endParaRPr lang="en-US" sz="34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475569"/>
                </a:solidFill>
              </a:rPr>
              <a:t>Kendali · FinTechathon 2026 · Topic F</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75569"/>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D_CLOSING">
    <p:bg>
      <p:bgPr>
        <a:solidFill>
          <a:srgbClr val="0F172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914400"/>
            <a:ext cx="10698480" cy="1097280"/>
          </a:xfrm>
          <a:prstGeom prst="rect">
            <a:avLst/>
          </a:prstGeom>
          <a:noFill/>
          <a:ln/>
        </p:spPr>
        <p:txBody>
          <a:bodyPr wrap="square" rtlCol="0"/>
          <a:lstStyle>
            <a:lvl1pPr indent="0" marL="0">
              <a:buNone/>
              <a:defRPr lang="en-US" sz="4800" b="1" dirty="0">
                <a:solidFill>
                  <a:schemeClr val="bg1"/>
                </a:solidFill>
              </a:defRPr>
            </a:lvl1pPr>
          </a:lstStyle>
          <a:p>
            <a:pPr indent="0" marL="0">
              <a:buNone/>
            </a:pPr>
            <a:endParaRPr lang="en-US" sz="4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75569"/>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097280"/>
            <a:ext cx="7772400" cy="365760"/>
          </a:xfrm>
          <a:prstGeom prst="rect">
            <a:avLst/>
          </a:prstGeom>
          <a:noFill/>
          <a:ln/>
        </p:spPr>
        <p:txBody>
          <a:bodyPr wrap="square" lIns="0" tIns="0" rIns="0" bIns="0" rtlCol="0" anchor="t"/>
          <a:lstStyle/>
          <a:p>
            <a:pPr indent="0" marL="0">
              <a:buNone/>
            </a:pPr>
            <a:r>
              <a:rPr lang="en-US" sz="1300" b="1" spc="100" kern="0" dirty="0">
                <a:solidFill>
                  <a:srgbClr val="5EEAD4"/>
                </a:solidFill>
              </a:rPr>
              <a:t>FINTECHATHON 2026  ·  INTERNATIONAL TRACK  ·  TOPIC F — AGENT WALLET</a:t>
            </a:r>
            <a:endParaRPr lang="en-US" sz="1300" dirty="0"/>
          </a:p>
        </p:txBody>
      </p:sp>
      <p:sp>
        <p:nvSpPr>
          <p:cNvPr id="3" name="Text 0"/>
          <p:cNvSpPr/>
          <p:nvPr>
            <p:ph idx="100" type="title" hasCustomPrompt="1"/>
          </p:nvPr>
        </p:nvSpPr>
        <p:spPr>
          <a:xfrm>
            <a:off x="731520" y="1828800"/>
            <a:ext cx="6949440" cy="1280160"/>
          </a:xfrm>
          <a:prstGeom prst="rect">
            <a:avLst/>
          </a:prstGeom>
          <a:noFill/>
          <a:ln/>
        </p:spPr>
        <p:txBody>
          <a:bodyPr wrap="square" lIns="0" tIns="0" rIns="0" bIns="0" rtlCol="0" anchor="b"/>
          <a:lstStyle/>
          <a:p>
            <a:pPr indent="0" marL="0">
              <a:buNone/>
            </a:pPr>
            <a:r>
              <a:rPr lang="en-US" sz="6000" b="1" dirty="0">
                <a:solidFill>
                  <a:schemeClr val="bg1"/>
                </a:solidFill>
              </a:rPr>
              <a:t>Kendali</a:t>
            </a:r>
            <a:endParaRPr lang="en-US" sz="6000" dirty="0"/>
          </a:p>
        </p:txBody>
      </p:sp>
      <p:sp>
        <p:nvSpPr>
          <p:cNvPr id="4" name="Text 0"/>
          <p:cNvSpPr/>
          <p:nvPr>
            <p:ph idx="101" type="body" hasCustomPrompt="1"/>
          </p:nvPr>
        </p:nvSpPr>
        <p:spPr>
          <a:xfrm>
            <a:off x="731520" y="3246120"/>
            <a:ext cx="6766560" cy="1463040"/>
          </a:xfrm>
          <a:prstGeom prst="rect">
            <a:avLst/>
          </a:prstGeom>
          <a:noFill/>
          <a:ln/>
        </p:spPr>
        <p:txBody>
          <a:bodyPr wrap="square" lIns="0" tIns="0" rIns="0" bIns="0" rtlCol="0" anchor="t"/>
          <a:lstStyle/>
          <a:p>
            <a:pPr indent="0" marL="0">
              <a:buNone/>
            </a:pPr>
            <a:r>
              <a:rPr lang="en-US" sz="2200" dirty="0">
                <a:solidFill>
                  <a:srgbClr val="CBD5E1"/>
                </a:solidFill>
              </a:rPr>
              <a:t>An AI treasury agent that pays suppliers on-chain — and cannot be tricked into losing the money it controls.</a:t>
            </a:r>
            <a:endParaRPr lang="en-US" sz="2200" dirty="0"/>
          </a:p>
        </p:txBody>
      </p:sp>
      <p:sp>
        <p:nvSpPr>
          <p:cNvPr id="5" name="Text 3"/>
          <p:cNvSpPr txBox="1"/>
          <p:nvPr/>
        </p:nvSpPr>
        <p:spPr>
          <a:xfrm>
            <a:off x="731520" y="5806440"/>
            <a:ext cx="7315200" cy="365760"/>
          </a:xfrm>
          <a:prstGeom prst="rect">
            <a:avLst/>
          </a:prstGeom>
          <a:noFill/>
          <a:ln/>
        </p:spPr>
        <p:txBody>
          <a:bodyPr wrap="square" lIns="0" tIns="0" rIns="0" bIns="0" rtlCol="0" anchor="t"/>
          <a:lstStyle/>
          <a:p>
            <a:pPr indent="0" marL="0">
              <a:buNone/>
            </a:pPr>
            <a:r>
              <a:rPr lang="en-US" sz="1500" dirty="0">
                <a:solidFill>
                  <a:srgbClr val="CBD5E1"/>
                </a:solidFill>
              </a:rPr>
              <a:t>Team [TEAM NAME]  ·  Institut Teknologi Bandung, Indonesia</a:t>
            </a:r>
            <a:endParaRPr lang="en-US" sz="1500" dirty="0"/>
          </a:p>
        </p:txBody>
      </p:sp>
      <p:sp>
        <p:nvSpPr>
          <p:cNvPr id="6" name="Shape 4"/>
          <p:cNvSpPr/>
          <p:nvPr/>
        </p:nvSpPr>
        <p:spPr>
          <a:xfrm>
            <a:off x="8229600" y="1554480"/>
            <a:ext cx="3291840" cy="1097280"/>
          </a:xfrm>
          <a:prstGeom prst="roundRect">
            <a:avLst>
              <a:gd name="adj" fmla="val 11667"/>
            </a:avLst>
          </a:prstGeom>
          <a:solidFill>
            <a:srgbClr val="1D4ED8"/>
          </a:solidFill>
          <a:ln w="12700">
            <a:solidFill>
              <a:srgbClr val="1D4ED8"/>
            </a:solidFill>
            <a:prstDash val="solid"/>
          </a:ln>
        </p:spPr>
      </p:sp>
      <p:sp>
        <p:nvSpPr>
          <p:cNvPr id="7" name="Text 5"/>
          <p:cNvSpPr txBox="1"/>
          <p:nvPr/>
        </p:nvSpPr>
        <p:spPr>
          <a:xfrm>
            <a:off x="8458200" y="1737360"/>
            <a:ext cx="2926080" cy="777240"/>
          </a:xfrm>
          <a:prstGeom prst="rect">
            <a:avLst/>
          </a:prstGeom>
          <a:noFill/>
          <a:ln/>
        </p:spPr>
        <p:txBody>
          <a:bodyPr wrap="square" lIns="0" tIns="0" rIns="0" bIns="0" rtlCol="0" anchor="ctr"/>
          <a:lstStyle/>
          <a:p>
            <a:pPr indent="0" marL="0">
              <a:buNone/>
            </a:pPr>
            <a:r>
              <a:rPr lang="en-US" sz="2000" b="1" dirty="0">
                <a:solidFill>
                  <a:srgbClr val="FFFFFF"/>
                </a:solidFill>
              </a:rPr>
              <a:t>①  Understand</a:t>
            </a:r>
            <a:endParaRPr lang="en-US" sz="2000" dirty="0"/>
          </a:p>
          <a:p>
            <a:pPr indent="0" marL="0">
              <a:buNone/>
            </a:pPr>
            <a:r>
              <a:rPr lang="en-US" sz="1300" dirty="0">
                <a:solidFill>
                  <a:srgbClr val="E2E8F0"/>
                </a:solidFill>
              </a:rPr>
              <a:t>LLM + deterministic NLU</a:t>
            </a:r>
            <a:endParaRPr lang="en-US" sz="2000" dirty="0"/>
          </a:p>
        </p:txBody>
      </p:sp>
      <p:sp>
        <p:nvSpPr>
          <p:cNvPr id="8" name="Shape 6"/>
          <p:cNvSpPr/>
          <p:nvPr/>
        </p:nvSpPr>
        <p:spPr>
          <a:xfrm>
            <a:off x="8229600" y="2880360"/>
            <a:ext cx="3291840" cy="1097280"/>
          </a:xfrm>
          <a:prstGeom prst="roundRect">
            <a:avLst>
              <a:gd name="adj" fmla="val 11667"/>
            </a:avLst>
          </a:prstGeom>
          <a:solidFill>
            <a:srgbClr val="B45309"/>
          </a:solidFill>
          <a:ln w="12700">
            <a:solidFill>
              <a:srgbClr val="B45309"/>
            </a:solidFill>
            <a:prstDash val="solid"/>
          </a:ln>
        </p:spPr>
      </p:sp>
      <p:sp>
        <p:nvSpPr>
          <p:cNvPr id="9" name="Text 7"/>
          <p:cNvSpPr txBox="1"/>
          <p:nvPr/>
        </p:nvSpPr>
        <p:spPr>
          <a:xfrm>
            <a:off x="8458200" y="3063240"/>
            <a:ext cx="2926080" cy="777240"/>
          </a:xfrm>
          <a:prstGeom prst="rect">
            <a:avLst/>
          </a:prstGeom>
          <a:noFill/>
          <a:ln/>
        </p:spPr>
        <p:txBody>
          <a:bodyPr wrap="square" lIns="0" tIns="0" rIns="0" bIns="0" rtlCol="0" anchor="ctr"/>
          <a:lstStyle/>
          <a:p>
            <a:pPr indent="0" marL="0">
              <a:buNone/>
            </a:pPr>
            <a:r>
              <a:rPr lang="en-US" sz="2000" b="1" dirty="0">
                <a:solidFill>
                  <a:srgbClr val="FFFFFF"/>
                </a:solidFill>
              </a:rPr>
              <a:t>②  Decide</a:t>
            </a:r>
            <a:endParaRPr lang="en-US" sz="2000" dirty="0"/>
          </a:p>
          <a:p>
            <a:pPr indent="0" marL="0">
              <a:buNone/>
            </a:pPr>
            <a:r>
              <a:rPr lang="en-US" sz="1300" dirty="0">
                <a:solidFill>
                  <a:srgbClr val="E2E8F0"/>
                </a:solidFill>
              </a:rPr>
              <a:t>deterministic policy engine</a:t>
            </a:r>
            <a:endParaRPr lang="en-US" sz="2000" dirty="0"/>
          </a:p>
        </p:txBody>
      </p:sp>
      <p:sp>
        <p:nvSpPr>
          <p:cNvPr id="10" name="Shape 8"/>
          <p:cNvSpPr/>
          <p:nvPr/>
        </p:nvSpPr>
        <p:spPr>
          <a:xfrm>
            <a:off x="8229600" y="4206240"/>
            <a:ext cx="3291840" cy="1097280"/>
          </a:xfrm>
          <a:prstGeom prst="roundRect">
            <a:avLst>
              <a:gd name="adj" fmla="val 11667"/>
            </a:avLst>
          </a:prstGeom>
          <a:solidFill>
            <a:srgbClr val="0F766E"/>
          </a:solidFill>
          <a:ln w="12700">
            <a:solidFill>
              <a:srgbClr val="0F766E"/>
            </a:solidFill>
            <a:prstDash val="solid"/>
          </a:ln>
        </p:spPr>
      </p:sp>
      <p:sp>
        <p:nvSpPr>
          <p:cNvPr id="11" name="Text 9"/>
          <p:cNvSpPr txBox="1"/>
          <p:nvPr/>
        </p:nvSpPr>
        <p:spPr>
          <a:xfrm>
            <a:off x="8458200" y="4389120"/>
            <a:ext cx="2926080" cy="777240"/>
          </a:xfrm>
          <a:prstGeom prst="rect">
            <a:avLst/>
          </a:prstGeom>
          <a:noFill/>
          <a:ln/>
        </p:spPr>
        <p:txBody>
          <a:bodyPr wrap="square" lIns="0" tIns="0" rIns="0" bIns="0" rtlCol="0" anchor="ctr"/>
          <a:lstStyle/>
          <a:p>
            <a:pPr indent="0" marL="0">
              <a:buNone/>
            </a:pPr>
            <a:r>
              <a:rPr lang="en-US" sz="2000" b="1" dirty="0">
                <a:solidFill>
                  <a:srgbClr val="FFFFFF"/>
                </a:solidFill>
              </a:rPr>
              <a:t>③  Enforce</a:t>
            </a:r>
            <a:endParaRPr lang="en-US" sz="2000" dirty="0"/>
          </a:p>
          <a:p>
            <a:pPr indent="0" marL="0">
              <a:buNone/>
            </a:pPr>
            <a:r>
              <a:rPr lang="en-US" sz="1300" dirty="0">
                <a:solidFill>
                  <a:srgbClr val="E2E8F0"/>
                </a:solidFill>
              </a:rPr>
              <a:t>KendaliVault smart contract</a:t>
            </a:r>
            <a:endParaRPr lang="en-US" sz="2000" dirty="0"/>
          </a:p>
        </p:txBody>
      </p:sp>
      <p:sp>
        <p:nvSpPr>
          <p:cNvPr id="12" name="Text 10"/>
          <p:cNvSpPr txBox="1"/>
          <p:nvPr/>
        </p:nvSpPr>
        <p:spPr>
          <a:xfrm>
            <a:off x="8229600" y="5486400"/>
            <a:ext cx="3291840" cy="457200"/>
          </a:xfrm>
          <a:prstGeom prst="rect">
            <a:avLst/>
          </a:prstGeom>
          <a:noFill/>
          <a:ln/>
        </p:spPr>
        <p:txBody>
          <a:bodyPr wrap="square" lIns="0" tIns="0" rIns="0" bIns="0" rtlCol="0" anchor="t"/>
          <a:lstStyle/>
          <a:p>
            <a:pPr algn="ctr" indent="0" marL="0">
              <a:buNone/>
            </a:pPr>
            <a:r>
              <a:rPr lang="en-US" sz="1200" i="1" dirty="0">
                <a:solidFill>
                  <a:srgbClr val="94A3B8"/>
                </a:solidFill>
              </a:rPr>
              <a:t>the LLM proposes · the policy decides · the contract enforces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1188720"/>
          </a:xfrm>
          <a:prstGeom prst="rect">
            <a:avLst/>
          </a:prstGeom>
          <a:noFill/>
          <a:ln/>
        </p:spPr>
        <p:txBody>
          <a:bodyPr wrap="square" lIns="0" tIns="0" rIns="0" bIns="0" rtlCol="0" anchor="ctr"/>
          <a:lstStyle/>
          <a:p>
            <a:pPr indent="0" marL="0">
              <a:buNone/>
            </a:pPr>
            <a:r>
              <a:rPr lang="en-US" sz="3400" b="1" dirty="0">
                <a:solidFill>
                  <a:schemeClr val="tx1"/>
                </a:solidFill>
              </a:rPr>
              <a:t>Small exporters need an AI finance clerk — but a key makes it a target</a:t>
            </a:r>
            <a:endParaRPr lang="en-US" sz="3400" dirty="0"/>
          </a:p>
        </p:txBody>
      </p:sp>
      <p:sp>
        <p:nvSpPr>
          <p:cNvPr id="3" name="persona"/>
          <p:cNvSpPr/>
          <p:nvPr/>
        </p:nvSpPr>
        <p:spPr>
          <a:xfrm>
            <a:off x="548640" y="1691640"/>
            <a:ext cx="5120640" cy="2148840"/>
          </a:xfrm>
          <a:prstGeom prst="roundRect">
            <a:avLst>
              <a:gd name="adj" fmla="val 5106"/>
            </a:avLst>
          </a:prstGeom>
          <a:solidFill>
            <a:srgbClr val="F1F5F9"/>
          </a:solidFill>
          <a:ln w="12700">
            <a:solidFill>
              <a:srgbClr val="E2E8F0"/>
            </a:solidFill>
            <a:prstDash val="solid"/>
          </a:ln>
          <a:effectLst>
            <a:outerShdw sx="100000" sy="100000" kx="0" ky="0" algn="bl" rotWithShape="0" blurRad="76200" dist="25400" dir="5400000">
              <a:srgbClr val="94A3B8">
                <a:alpha val="25000"/>
              </a:srgbClr>
            </a:outerShdw>
          </a:effectLst>
        </p:spPr>
      </p:sp>
      <p:sp>
        <p:nvSpPr>
          <p:cNvPr id="4" name="Text 2"/>
          <p:cNvSpPr txBox="1"/>
          <p:nvPr/>
        </p:nvSpPr>
        <p:spPr>
          <a:xfrm>
            <a:off x="822960" y="1874520"/>
            <a:ext cx="4572000" cy="411480"/>
          </a:xfrm>
          <a:prstGeom prst="rect">
            <a:avLst/>
          </a:prstGeom>
          <a:noFill/>
          <a:ln/>
        </p:spPr>
        <p:txBody>
          <a:bodyPr wrap="square" lIns="0" tIns="0" rIns="0" bIns="0" rtlCol="0" anchor="t"/>
          <a:lstStyle/>
          <a:p>
            <a:pPr indent="0" marL="0">
              <a:buNone/>
            </a:pPr>
            <a:r>
              <a:rPr lang="en-US" sz="1900" b="1" dirty="0">
                <a:solidFill>
                  <a:srgbClr val="0F172A"/>
                </a:solidFill>
              </a:rPr>
              <a:t>Meet Kopi Nusantara Roastery</a:t>
            </a:r>
            <a:endParaRPr lang="en-US" sz="1900" dirty="0"/>
          </a:p>
        </p:txBody>
      </p:sp>
      <p:sp>
        <p:nvSpPr>
          <p:cNvPr id="5" name="Text 3"/>
          <p:cNvSpPr txBox="1"/>
          <p:nvPr/>
        </p:nvSpPr>
        <p:spPr>
          <a:xfrm>
            <a:off x="822960" y="2377440"/>
            <a:ext cx="4572000" cy="1371600"/>
          </a:xfrm>
          <a:prstGeom prst="rect">
            <a:avLst/>
          </a:prstGeom>
          <a:noFill/>
          <a:ln/>
        </p:spPr>
        <p:txBody>
          <a:bodyPr wrap="square" lIns="0" tIns="0" rIns="0" bIns="0" rtlCol="0" anchor="t"/>
          <a:lstStyle/>
          <a:p>
            <a:pPr indent="0" marL="0">
              <a:buNone/>
            </a:pPr>
            <a:r>
              <a:rPr lang="en-US" sz="1500" dirty="0">
                <a:solidFill>
                  <a:srgbClr val="334155"/>
                </a:solidFill>
              </a:rPr>
              <a:t>A Bandung coffee exporter with 9 staff and suppliers in Indonesia, Shenzhen and Singapore — and no finance team. One wrong payment wipes out a month of margin.</a:t>
            </a:r>
            <a:endParaRPr lang="en-US" sz="1500" dirty="0"/>
          </a:p>
        </p:txBody>
      </p:sp>
      <p:sp>
        <p:nvSpPr>
          <p:cNvPr id="6" name="Text 4"/>
          <p:cNvSpPr txBox="1"/>
          <p:nvPr/>
        </p:nvSpPr>
        <p:spPr>
          <a:xfrm>
            <a:off x="548640" y="4069080"/>
            <a:ext cx="5120640" cy="914400"/>
          </a:xfrm>
          <a:prstGeom prst="rect">
            <a:avLst/>
          </a:prstGeom>
          <a:noFill/>
          <a:ln/>
        </p:spPr>
        <p:txBody>
          <a:bodyPr wrap="square" lIns="0" tIns="0" rIns="0" bIns="0" rtlCol="0" anchor="t"/>
          <a:lstStyle/>
          <a:p>
            <a:pPr indent="0" marL="0">
              <a:buNone/>
            </a:pPr>
            <a:r>
              <a:rPr lang="en-US" sz="6000" b="1" dirty="0">
                <a:solidFill>
                  <a:srgbClr val="0F766E"/>
                </a:solidFill>
              </a:rPr>
              <a:t>702,342</a:t>
            </a:r>
            <a:endParaRPr lang="en-US" sz="6000" dirty="0"/>
          </a:p>
        </p:txBody>
      </p:sp>
      <p:sp>
        <p:nvSpPr>
          <p:cNvPr id="7" name="Text 5"/>
          <p:cNvSpPr txBox="1"/>
          <p:nvPr/>
        </p:nvSpPr>
        <p:spPr>
          <a:xfrm>
            <a:off x="548640" y="5029200"/>
            <a:ext cx="4937760" cy="640080"/>
          </a:xfrm>
          <a:prstGeom prst="rect">
            <a:avLst/>
          </a:prstGeom>
          <a:noFill/>
          <a:ln/>
        </p:spPr>
        <p:txBody>
          <a:bodyPr wrap="square" lIns="0" tIns="0" rIns="0" bIns="0" rtlCol="0" anchor="t"/>
          <a:lstStyle/>
          <a:p>
            <a:pPr indent="0" marL="0">
              <a:buNone/>
            </a:pPr>
            <a:r>
              <a:rPr lang="en-US" sz="1300" dirty="0">
                <a:solidFill>
                  <a:srgbClr val="475569"/>
                </a:solidFill>
              </a:rPr>
              <a:t>scam reports to Indonesia's Anti-Scam Centre (OJK IASC), Nov 2024 – Sep 2026</a:t>
            </a:r>
            <a:endParaRPr lang="en-US" sz="1300" dirty="0"/>
          </a:p>
        </p:txBody>
      </p:sp>
      <p:sp>
        <p:nvSpPr>
          <p:cNvPr id="8" name="threat1"/>
          <p:cNvSpPr/>
          <p:nvPr/>
        </p:nvSpPr>
        <p:spPr>
          <a:xfrm>
            <a:off x="6126480" y="1691640"/>
            <a:ext cx="5486400" cy="1325880"/>
          </a:xfrm>
          <a:prstGeom prst="roundRect">
            <a:avLst>
              <a:gd name="adj" fmla="val 8276"/>
            </a:avLst>
          </a:prstGeom>
          <a:solidFill>
            <a:srgbClr val="FFFFFF"/>
          </a:solidFill>
          <a:ln w="12700">
            <a:solidFill>
              <a:srgbClr val="E2E8F0"/>
            </a:solidFill>
            <a:prstDash val="solid"/>
          </a:ln>
          <a:effectLst>
            <a:outerShdw sx="100000" sy="100000" kx="0" ky="0" algn="bl" rotWithShape="0" blurRad="76200" dist="25400" dir="5400000">
              <a:srgbClr val="94A3B8">
                <a:alpha val="25000"/>
              </a:srgbClr>
            </a:outerShdw>
          </a:effectLst>
        </p:spPr>
      </p:sp>
      <p:sp>
        <p:nvSpPr>
          <p:cNvPr id="9" name="Shape 7"/>
          <p:cNvSpPr/>
          <p:nvPr/>
        </p:nvSpPr>
        <p:spPr>
          <a:xfrm>
            <a:off x="6355080" y="2075688"/>
            <a:ext cx="548640" cy="548640"/>
          </a:xfrm>
          <a:prstGeom prst="ellipse">
            <a:avLst/>
          </a:prstGeom>
          <a:solidFill>
            <a:srgbClr val="B91C1C"/>
          </a:solidFill>
          <a:ln w="12700">
            <a:solidFill>
              <a:srgbClr val="B91C1C"/>
            </a:solidFill>
            <a:prstDash val="solid"/>
          </a:ln>
        </p:spPr>
      </p:sp>
      <p:sp>
        <p:nvSpPr>
          <p:cNvPr id="10" name="Text 8"/>
          <p:cNvSpPr txBox="1"/>
          <p:nvPr/>
        </p:nvSpPr>
        <p:spPr>
          <a:xfrm>
            <a:off x="6355080" y="207568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11" name="Text 9"/>
          <p:cNvSpPr txBox="1"/>
          <p:nvPr/>
        </p:nvSpPr>
        <p:spPr>
          <a:xfrm>
            <a:off x="7132320" y="1874520"/>
            <a:ext cx="4297680" cy="365760"/>
          </a:xfrm>
          <a:prstGeom prst="rect">
            <a:avLst/>
          </a:prstGeom>
          <a:noFill/>
          <a:ln/>
        </p:spPr>
        <p:txBody>
          <a:bodyPr wrap="square" lIns="0" tIns="0" rIns="0" bIns="0" rtlCol="0" anchor="t"/>
          <a:lstStyle/>
          <a:p>
            <a:pPr indent="0" marL="0">
              <a:buNone/>
            </a:pPr>
            <a:r>
              <a:rPr lang="en-US" sz="1700" b="1" dirty="0">
                <a:solidFill>
                  <a:srgbClr val="0F172A"/>
                </a:solidFill>
              </a:rPr>
              <a:t>Documents that give orders</a:t>
            </a:r>
            <a:endParaRPr lang="en-US" sz="1700" dirty="0"/>
          </a:p>
        </p:txBody>
      </p:sp>
      <p:sp>
        <p:nvSpPr>
          <p:cNvPr id="12" name="Text 10"/>
          <p:cNvSpPr txBox="1"/>
          <p:nvPr/>
        </p:nvSpPr>
        <p:spPr>
          <a:xfrm>
            <a:off x="7132320" y="2258568"/>
            <a:ext cx="4297680" cy="685800"/>
          </a:xfrm>
          <a:prstGeom prst="rect">
            <a:avLst/>
          </a:prstGeom>
          <a:noFill/>
          <a:ln/>
        </p:spPr>
        <p:txBody>
          <a:bodyPr wrap="square" lIns="0" tIns="0" rIns="0" bIns="0" rtlCol="0" anchor="t"/>
          <a:lstStyle/>
          <a:p>
            <a:pPr indent="0" marL="0">
              <a:buNone/>
            </a:pPr>
            <a:r>
              <a:rPr lang="en-US" sz="1400" dirty="0">
                <a:solidFill>
                  <a:srgbClr val="334155"/>
                </a:solidFill>
              </a:rPr>
              <a:t>Prompt injection: an invoice note tells the AI to ignore its rules and pay someone else.</a:t>
            </a:r>
            <a:endParaRPr lang="en-US" sz="1400" dirty="0"/>
          </a:p>
        </p:txBody>
      </p:sp>
      <p:sp>
        <p:nvSpPr>
          <p:cNvPr id="13" name="threat2"/>
          <p:cNvSpPr/>
          <p:nvPr/>
        </p:nvSpPr>
        <p:spPr>
          <a:xfrm>
            <a:off x="6126480" y="3200400"/>
            <a:ext cx="5486400" cy="1325880"/>
          </a:xfrm>
          <a:prstGeom prst="roundRect">
            <a:avLst>
              <a:gd name="adj" fmla="val 8276"/>
            </a:avLst>
          </a:prstGeom>
          <a:solidFill>
            <a:srgbClr val="FFFFFF"/>
          </a:solidFill>
          <a:ln w="12700">
            <a:solidFill>
              <a:srgbClr val="E2E8F0"/>
            </a:solidFill>
            <a:prstDash val="solid"/>
          </a:ln>
          <a:effectLst>
            <a:outerShdw sx="100000" sy="100000" kx="0" ky="0" algn="bl" rotWithShape="0" blurRad="76200" dist="25400" dir="5400000">
              <a:srgbClr val="94A3B8">
                <a:alpha val="25000"/>
              </a:srgbClr>
            </a:outerShdw>
          </a:effectLst>
        </p:spPr>
      </p:sp>
      <p:sp>
        <p:nvSpPr>
          <p:cNvPr id="14" name="Shape 12"/>
          <p:cNvSpPr/>
          <p:nvPr/>
        </p:nvSpPr>
        <p:spPr>
          <a:xfrm>
            <a:off x="6355080" y="3584448"/>
            <a:ext cx="548640" cy="548640"/>
          </a:xfrm>
          <a:prstGeom prst="ellipse">
            <a:avLst/>
          </a:prstGeom>
          <a:solidFill>
            <a:srgbClr val="B45309"/>
          </a:solidFill>
          <a:ln w="12700">
            <a:solidFill>
              <a:srgbClr val="B45309"/>
            </a:solidFill>
            <a:prstDash val="solid"/>
          </a:ln>
        </p:spPr>
      </p:sp>
      <p:sp>
        <p:nvSpPr>
          <p:cNvPr id="15" name="Text 13"/>
          <p:cNvSpPr txBox="1"/>
          <p:nvPr/>
        </p:nvSpPr>
        <p:spPr>
          <a:xfrm>
            <a:off x="6355080" y="358444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6" name="Text 14"/>
          <p:cNvSpPr txBox="1"/>
          <p:nvPr/>
        </p:nvSpPr>
        <p:spPr>
          <a:xfrm>
            <a:off x="7132320" y="3383280"/>
            <a:ext cx="4297680" cy="365760"/>
          </a:xfrm>
          <a:prstGeom prst="rect">
            <a:avLst/>
          </a:prstGeom>
          <a:noFill/>
          <a:ln/>
        </p:spPr>
        <p:txBody>
          <a:bodyPr wrap="square" lIns="0" tIns="0" rIns="0" bIns="0" rtlCol="0" anchor="t"/>
          <a:lstStyle/>
          <a:p>
            <a:pPr indent="0" marL="0">
              <a:buNone/>
            </a:pPr>
            <a:r>
              <a:rPr lang="en-US" sz="1700" b="1" dirty="0">
                <a:solidFill>
                  <a:srgbClr val="0F172A"/>
                </a:solidFill>
              </a:rPr>
              <a:t>Invoices that change the wallet</a:t>
            </a:r>
            <a:endParaRPr lang="en-US" sz="1700" dirty="0"/>
          </a:p>
        </p:txBody>
      </p:sp>
      <p:sp>
        <p:nvSpPr>
          <p:cNvPr id="17" name="Text 15"/>
          <p:cNvSpPr txBox="1"/>
          <p:nvPr/>
        </p:nvSpPr>
        <p:spPr>
          <a:xfrm>
            <a:off x="7132320" y="3767328"/>
            <a:ext cx="4297680" cy="685800"/>
          </a:xfrm>
          <a:prstGeom prst="rect">
            <a:avLst/>
          </a:prstGeom>
          <a:noFill/>
          <a:ln/>
        </p:spPr>
        <p:txBody>
          <a:bodyPr wrap="square" lIns="0" tIns="0" rIns="0" bIns="0" rtlCol="0" anchor="t"/>
          <a:lstStyle/>
          <a:p>
            <a:pPr indent="0" marL="0">
              <a:buNone/>
            </a:pPr>
            <a:r>
              <a:rPr lang="en-US" sz="1400" dirty="0">
                <a:solidFill>
                  <a:srgbClr val="334155"/>
                </a:solidFill>
              </a:rPr>
              <a:t>Business email compromise, look-alike addresses, fake vendors, duplicate “reminders”.</a:t>
            </a:r>
            <a:endParaRPr lang="en-US" sz="1400" dirty="0"/>
          </a:p>
        </p:txBody>
      </p:sp>
      <p:sp>
        <p:nvSpPr>
          <p:cNvPr id="18" name="threat3"/>
          <p:cNvSpPr/>
          <p:nvPr/>
        </p:nvSpPr>
        <p:spPr>
          <a:xfrm>
            <a:off x="6126480" y="4709160"/>
            <a:ext cx="5486400" cy="1325880"/>
          </a:xfrm>
          <a:prstGeom prst="roundRect">
            <a:avLst>
              <a:gd name="adj" fmla="val 8276"/>
            </a:avLst>
          </a:prstGeom>
          <a:solidFill>
            <a:srgbClr val="FFFFFF"/>
          </a:solidFill>
          <a:ln w="12700">
            <a:solidFill>
              <a:srgbClr val="E2E8F0"/>
            </a:solidFill>
            <a:prstDash val="solid"/>
          </a:ln>
          <a:effectLst>
            <a:outerShdw sx="100000" sy="100000" kx="0" ky="0" algn="bl" rotWithShape="0" blurRad="76200" dist="25400" dir="5400000">
              <a:srgbClr val="94A3B8">
                <a:alpha val="25000"/>
              </a:srgbClr>
            </a:outerShdw>
          </a:effectLst>
        </p:spPr>
      </p:sp>
      <p:sp>
        <p:nvSpPr>
          <p:cNvPr id="19" name="Shape 17"/>
          <p:cNvSpPr/>
          <p:nvPr/>
        </p:nvSpPr>
        <p:spPr>
          <a:xfrm>
            <a:off x="6355080" y="5093208"/>
            <a:ext cx="548640" cy="548640"/>
          </a:xfrm>
          <a:prstGeom prst="ellipse">
            <a:avLst/>
          </a:prstGeom>
          <a:solidFill>
            <a:srgbClr val="475569"/>
          </a:solidFill>
          <a:ln w="12700">
            <a:solidFill>
              <a:srgbClr val="475569"/>
            </a:solidFill>
            <a:prstDash val="solid"/>
          </a:ln>
        </p:spPr>
      </p:sp>
      <p:sp>
        <p:nvSpPr>
          <p:cNvPr id="20" name="Text 18"/>
          <p:cNvSpPr txBox="1"/>
          <p:nvPr/>
        </p:nvSpPr>
        <p:spPr>
          <a:xfrm>
            <a:off x="6355080" y="509320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21" name="Text 19"/>
          <p:cNvSpPr txBox="1"/>
          <p:nvPr/>
        </p:nvSpPr>
        <p:spPr>
          <a:xfrm>
            <a:off x="7132320" y="4892040"/>
            <a:ext cx="4297680" cy="365760"/>
          </a:xfrm>
          <a:prstGeom prst="rect">
            <a:avLst/>
          </a:prstGeom>
          <a:noFill/>
          <a:ln/>
        </p:spPr>
        <p:txBody>
          <a:bodyPr wrap="square" lIns="0" tIns="0" rIns="0" bIns="0" rtlCol="0" anchor="t"/>
          <a:lstStyle/>
          <a:p>
            <a:pPr indent="0" marL="0">
              <a:buNone/>
            </a:pPr>
            <a:r>
              <a:rPr lang="en-US" sz="1700" b="1" dirty="0">
                <a:solidFill>
                  <a:srgbClr val="0F172A"/>
                </a:solidFill>
              </a:rPr>
              <a:t>Servers that get hacked</a:t>
            </a:r>
            <a:endParaRPr lang="en-US" sz="1700" dirty="0"/>
          </a:p>
        </p:txBody>
      </p:sp>
      <p:sp>
        <p:nvSpPr>
          <p:cNvPr id="22" name="Text 20"/>
          <p:cNvSpPr txBox="1"/>
          <p:nvPr/>
        </p:nvSpPr>
        <p:spPr>
          <a:xfrm>
            <a:off x="7132320" y="5276088"/>
            <a:ext cx="4297680" cy="685800"/>
          </a:xfrm>
          <a:prstGeom prst="rect">
            <a:avLst/>
          </a:prstGeom>
          <a:noFill/>
          <a:ln/>
        </p:spPr>
        <p:txBody>
          <a:bodyPr wrap="square" lIns="0" tIns="0" rIns="0" bIns="0" rtlCol="0" anchor="t"/>
          <a:lstStyle/>
          <a:p>
            <a:pPr indent="0" marL="0">
              <a:buNone/>
            </a:pPr>
            <a:r>
              <a:rPr lang="en-US" sz="1400" dirty="0">
                <a:solidFill>
                  <a:srgbClr val="334155"/>
                </a:solidFill>
              </a:rPr>
              <a:t>If the agent's key is stolen, safety must not depend on the attacker behaving politely.</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75569"/>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1188720"/>
          </a:xfrm>
          <a:prstGeom prst="rect">
            <a:avLst/>
          </a:prstGeom>
          <a:noFill/>
          <a:ln/>
        </p:spPr>
        <p:txBody>
          <a:bodyPr wrap="square" lIns="0" tIns="0" rIns="0" bIns="0" rtlCol="0" anchor="ctr"/>
          <a:lstStyle/>
          <a:p>
            <a:pPr indent="0" marL="0">
              <a:buNone/>
            </a:pPr>
            <a:r>
              <a:rPr lang="en-US" sz="3400" b="1" dirty="0">
                <a:solidFill>
                  <a:schemeClr val="tx1"/>
                </a:solidFill>
              </a:rPr>
              <a:t>The LLM proposes, the policy decides, the contract enforces</a:t>
            </a:r>
            <a:endParaRPr lang="en-US" sz="3400" dirty="0"/>
          </a:p>
        </p:txBody>
      </p:sp>
      <p:pic>
        <p:nvPicPr>
          <p:cNvPr id="3" name="Image 0" descr="C:\Users\Ari Azis\FinTechathon2026\kendali\docs\img\architecture.png">    </p:cNvPr>
          <p:cNvPicPr>
            <a:picLocks noChangeAspect="1"/>
          </p:cNvPicPr>
          <p:nvPr/>
        </p:nvPicPr>
        <p:blipFill>
          <a:blip r:embed="rId1"/>
          <a:stretch>
            <a:fillRect/>
          </a:stretch>
        </p:blipFill>
        <p:spPr>
          <a:xfrm>
            <a:off x="1170432" y="1600200"/>
            <a:ext cx="9857232" cy="4572000"/>
          </a:xfrm>
          <a:prstGeom prst="rect">
            <a:avLst/>
          </a:prstGeom>
        </p:spPr>
      </p:pic>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75569"/>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1188720"/>
          </a:xfrm>
          <a:prstGeom prst="rect">
            <a:avLst/>
          </a:prstGeom>
          <a:noFill/>
          <a:ln/>
        </p:spPr>
        <p:txBody>
          <a:bodyPr wrap="square" lIns="0" tIns="0" rIns="0" bIns="0" rtlCol="0" anchor="ctr"/>
          <a:lstStyle/>
          <a:p>
            <a:pPr indent="0" marL="0">
              <a:buNone/>
            </a:pPr>
            <a:r>
              <a:rPr lang="en-US" sz="3400" b="1" dirty="0">
                <a:solidFill>
                  <a:schemeClr val="tx1"/>
                </a:solidFill>
              </a:rPr>
              <a:t>A real financial participant: what Kendali does on its own</a:t>
            </a:r>
            <a:endParaRPr lang="en-US" sz="3400" dirty="0"/>
          </a:p>
        </p:txBody>
      </p:sp>
      <p:sp>
        <p:nvSpPr>
          <p:cNvPr id="3" name="cap1"/>
          <p:cNvSpPr/>
          <p:nvPr/>
        </p:nvSpPr>
        <p:spPr>
          <a:xfrm>
            <a:off x="548640" y="1691640"/>
            <a:ext cx="3520440" cy="2103120"/>
          </a:xfrm>
          <a:prstGeom prst="roundRect">
            <a:avLst>
              <a:gd name="adj" fmla="val 5217"/>
            </a:avLst>
          </a:prstGeom>
          <a:solidFill>
            <a:srgbClr val="FFFFFF"/>
          </a:solidFill>
          <a:ln w="12700">
            <a:solidFill>
              <a:srgbClr val="E2E8F0"/>
            </a:solidFill>
            <a:prstDash val="solid"/>
          </a:ln>
          <a:effectLst>
            <a:outerShdw sx="100000" sy="100000" kx="0" ky="0" algn="bl" rotWithShape="0" blurRad="76200" dist="25400" dir="5400000">
              <a:srgbClr val="94A3B8">
                <a:alpha val="25000"/>
              </a:srgbClr>
            </a:outerShdw>
          </a:effectLst>
        </p:spPr>
      </p:sp>
      <p:sp>
        <p:nvSpPr>
          <p:cNvPr id="4" name="Shape 2"/>
          <p:cNvSpPr/>
          <p:nvPr/>
        </p:nvSpPr>
        <p:spPr>
          <a:xfrm>
            <a:off x="777240" y="1920240"/>
            <a:ext cx="502920" cy="502920"/>
          </a:xfrm>
          <a:prstGeom prst="ellipse">
            <a:avLst/>
          </a:prstGeom>
          <a:solidFill>
            <a:srgbClr val="0F766E"/>
          </a:solidFill>
          <a:ln w="12700">
            <a:solidFill>
              <a:srgbClr val="0F766E"/>
            </a:solidFill>
            <a:prstDash val="solid"/>
          </a:ln>
        </p:spPr>
      </p:sp>
      <p:sp>
        <p:nvSpPr>
          <p:cNvPr id="5" name="Text 3"/>
          <p:cNvSpPr txBox="1"/>
          <p:nvPr/>
        </p:nvSpPr>
        <p:spPr>
          <a:xfrm>
            <a:off x="777240" y="19202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6" name="Text 4"/>
          <p:cNvSpPr txBox="1"/>
          <p:nvPr/>
        </p:nvSpPr>
        <p:spPr>
          <a:xfrm>
            <a:off x="1417320" y="1965960"/>
            <a:ext cx="2514600" cy="457200"/>
          </a:xfrm>
          <a:prstGeom prst="rect">
            <a:avLst/>
          </a:prstGeom>
          <a:noFill/>
          <a:ln/>
        </p:spPr>
        <p:txBody>
          <a:bodyPr wrap="square" lIns="0" tIns="0" rIns="0" bIns="0" rtlCol="0" anchor="ctr"/>
          <a:lstStyle/>
          <a:p>
            <a:pPr indent="0" marL="0">
              <a:buNone/>
            </a:pPr>
            <a:r>
              <a:rPr lang="en-US" sz="1700" b="1" dirty="0">
                <a:solidFill>
                  <a:srgbClr val="0F172A"/>
                </a:solidFill>
              </a:rPr>
              <a:t>Pays supplier invoices</a:t>
            </a:r>
            <a:endParaRPr lang="en-US" sz="1700" dirty="0"/>
          </a:p>
        </p:txBody>
      </p:sp>
      <p:sp>
        <p:nvSpPr>
          <p:cNvPr id="7" name="Text 5"/>
          <p:cNvSpPr txBox="1"/>
          <p:nvPr/>
        </p:nvSpPr>
        <p:spPr>
          <a:xfrm>
            <a:off x="777240" y="2560320"/>
            <a:ext cx="3108960" cy="868680"/>
          </a:xfrm>
          <a:prstGeom prst="rect">
            <a:avLst/>
          </a:prstGeom>
          <a:noFill/>
          <a:ln/>
        </p:spPr>
        <p:txBody>
          <a:bodyPr wrap="square" lIns="0" tIns="0" rIns="0" bIns="0" rtlCol="0" anchor="t"/>
          <a:lstStyle/>
          <a:p>
            <a:pPr indent="0" marL="0">
              <a:buNone/>
            </a:pPr>
            <a:r>
              <a:rPr lang="en-US" sz="1400" dirty="0">
                <a:solidFill>
                  <a:srgbClr val="334155"/>
                </a:solidFill>
              </a:rPr>
              <a:t>Reads text, PDF and JSON invoices in English and Bahasa Indonesia, verifies them and pays on-chain.</a:t>
            </a:r>
            <a:endParaRPr lang="en-US" sz="1400" dirty="0"/>
          </a:p>
        </p:txBody>
      </p:sp>
      <p:sp>
        <p:nvSpPr>
          <p:cNvPr id="8" name="Text 6"/>
          <p:cNvSpPr txBox="1"/>
          <p:nvPr/>
        </p:nvSpPr>
        <p:spPr>
          <a:xfrm>
            <a:off x="777240" y="3429000"/>
            <a:ext cx="3108960" cy="274320"/>
          </a:xfrm>
          <a:prstGeom prst="rect">
            <a:avLst/>
          </a:prstGeom>
          <a:noFill/>
          <a:ln/>
        </p:spPr>
        <p:txBody>
          <a:bodyPr wrap="square" lIns="0" tIns="0" rIns="0" bIns="0" rtlCol="0" anchor="t"/>
          <a:lstStyle/>
          <a:p>
            <a:pPr indent="0" marL="0">
              <a:buNone/>
            </a:pPr>
            <a:r>
              <a:rPr lang="en-US" sz="1100" i="1" dirty="0">
                <a:solidFill>
                  <a:srgbClr val="475569"/>
                </a:solidFill>
              </a:rPr>
              <a:t>eval: T01 · T03 · T06 · T07</a:t>
            </a:r>
            <a:endParaRPr lang="en-US" sz="1100" dirty="0"/>
          </a:p>
        </p:txBody>
      </p:sp>
      <p:sp>
        <p:nvSpPr>
          <p:cNvPr id="9" name="cap2"/>
          <p:cNvSpPr/>
          <p:nvPr/>
        </p:nvSpPr>
        <p:spPr>
          <a:xfrm>
            <a:off x="4297680" y="1691640"/>
            <a:ext cx="3520440" cy="2103120"/>
          </a:xfrm>
          <a:prstGeom prst="roundRect">
            <a:avLst>
              <a:gd name="adj" fmla="val 5217"/>
            </a:avLst>
          </a:prstGeom>
          <a:solidFill>
            <a:srgbClr val="FFFFFF"/>
          </a:solidFill>
          <a:ln w="12700">
            <a:solidFill>
              <a:srgbClr val="E2E8F0"/>
            </a:solidFill>
            <a:prstDash val="solid"/>
          </a:ln>
          <a:effectLst>
            <a:outerShdw sx="100000" sy="100000" kx="0" ky="0" algn="bl" rotWithShape="0" blurRad="76200" dist="25400" dir="5400000">
              <a:srgbClr val="94A3B8">
                <a:alpha val="25000"/>
              </a:srgbClr>
            </a:outerShdw>
          </a:effectLst>
        </p:spPr>
      </p:sp>
      <p:sp>
        <p:nvSpPr>
          <p:cNvPr id="10" name="Shape 8"/>
          <p:cNvSpPr/>
          <p:nvPr/>
        </p:nvSpPr>
        <p:spPr>
          <a:xfrm>
            <a:off x="4526280" y="1920240"/>
            <a:ext cx="502920" cy="502920"/>
          </a:xfrm>
          <a:prstGeom prst="ellipse">
            <a:avLst/>
          </a:prstGeom>
          <a:solidFill>
            <a:srgbClr val="0F766E"/>
          </a:solidFill>
          <a:ln w="12700">
            <a:solidFill>
              <a:srgbClr val="0F766E"/>
            </a:solidFill>
            <a:prstDash val="solid"/>
          </a:ln>
        </p:spPr>
      </p:sp>
      <p:sp>
        <p:nvSpPr>
          <p:cNvPr id="11" name="Text 9"/>
          <p:cNvSpPr txBox="1"/>
          <p:nvPr/>
        </p:nvSpPr>
        <p:spPr>
          <a:xfrm>
            <a:off x="4526280" y="19202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2" name="Text 10"/>
          <p:cNvSpPr txBox="1"/>
          <p:nvPr/>
        </p:nvSpPr>
        <p:spPr>
          <a:xfrm>
            <a:off x="5166360" y="1965960"/>
            <a:ext cx="2514600" cy="457200"/>
          </a:xfrm>
          <a:prstGeom prst="rect">
            <a:avLst/>
          </a:prstGeom>
          <a:noFill/>
          <a:ln/>
        </p:spPr>
        <p:txBody>
          <a:bodyPr wrap="square" lIns="0" tIns="0" rIns="0" bIns="0" rtlCol="0" anchor="ctr"/>
          <a:lstStyle/>
          <a:p>
            <a:pPr indent="0" marL="0">
              <a:buNone/>
            </a:pPr>
            <a:r>
              <a:rPr lang="en-US" sz="1700" b="1" dirty="0">
                <a:solidFill>
                  <a:srgbClr val="0F172A"/>
                </a:solidFill>
              </a:rPr>
              <a:t>Maker-checker</a:t>
            </a:r>
            <a:endParaRPr lang="en-US" sz="1700" dirty="0"/>
          </a:p>
        </p:txBody>
      </p:sp>
      <p:sp>
        <p:nvSpPr>
          <p:cNvPr id="13" name="Text 11"/>
          <p:cNvSpPr txBox="1"/>
          <p:nvPr/>
        </p:nvSpPr>
        <p:spPr>
          <a:xfrm>
            <a:off x="4526280" y="2560320"/>
            <a:ext cx="3108960" cy="868680"/>
          </a:xfrm>
          <a:prstGeom prst="rect">
            <a:avLst/>
          </a:prstGeom>
          <a:noFill/>
          <a:ln/>
        </p:spPr>
        <p:txBody>
          <a:bodyPr wrap="square" lIns="0" tIns="0" rIns="0" bIns="0" rtlCol="0" anchor="t"/>
          <a:lstStyle/>
          <a:p>
            <a:pPr indent="0" marL="0">
              <a:buNone/>
            </a:pPr>
            <a:r>
              <a:rPr lang="en-US" sz="1400" dirty="0">
                <a:solidFill>
                  <a:srgbClr val="334155"/>
                </a:solidFill>
              </a:rPr>
              <a:t>Large, new or unusual payments become proposals; only the owner's key can approve them.</a:t>
            </a:r>
            <a:endParaRPr lang="en-US" sz="1400" dirty="0"/>
          </a:p>
        </p:txBody>
      </p:sp>
      <p:sp>
        <p:nvSpPr>
          <p:cNvPr id="14" name="Text 12"/>
          <p:cNvSpPr txBox="1"/>
          <p:nvPr/>
        </p:nvSpPr>
        <p:spPr>
          <a:xfrm>
            <a:off x="4526280" y="3429000"/>
            <a:ext cx="3108960" cy="274320"/>
          </a:xfrm>
          <a:prstGeom prst="rect">
            <a:avLst/>
          </a:prstGeom>
          <a:noFill/>
          <a:ln/>
        </p:spPr>
        <p:txBody>
          <a:bodyPr wrap="square" lIns="0" tIns="0" rIns="0" bIns="0" rtlCol="0" anchor="t"/>
          <a:lstStyle/>
          <a:p>
            <a:pPr indent="0" marL="0">
              <a:buNone/>
            </a:pPr>
            <a:r>
              <a:rPr lang="en-US" sz="1100" i="1" dirty="0">
                <a:solidFill>
                  <a:srgbClr val="475569"/>
                </a:solidFill>
              </a:rPr>
              <a:t>eval: T02 · T04 · T09</a:t>
            </a:r>
            <a:endParaRPr lang="en-US" sz="1100" dirty="0"/>
          </a:p>
        </p:txBody>
      </p:sp>
      <p:sp>
        <p:nvSpPr>
          <p:cNvPr id="15" name="cap3"/>
          <p:cNvSpPr/>
          <p:nvPr/>
        </p:nvSpPr>
        <p:spPr>
          <a:xfrm>
            <a:off x="8046720" y="1691640"/>
            <a:ext cx="3520440" cy="2103120"/>
          </a:xfrm>
          <a:prstGeom prst="roundRect">
            <a:avLst>
              <a:gd name="adj" fmla="val 5217"/>
            </a:avLst>
          </a:prstGeom>
          <a:solidFill>
            <a:srgbClr val="FFFFFF"/>
          </a:solidFill>
          <a:ln w="12700">
            <a:solidFill>
              <a:srgbClr val="E2E8F0"/>
            </a:solidFill>
            <a:prstDash val="solid"/>
          </a:ln>
          <a:effectLst>
            <a:outerShdw sx="100000" sy="100000" kx="0" ky="0" algn="bl" rotWithShape="0" blurRad="76200" dist="25400" dir="5400000">
              <a:srgbClr val="94A3B8">
                <a:alpha val="25000"/>
              </a:srgbClr>
            </a:outerShdw>
          </a:effectLst>
        </p:spPr>
      </p:sp>
      <p:sp>
        <p:nvSpPr>
          <p:cNvPr id="16" name="Shape 14"/>
          <p:cNvSpPr/>
          <p:nvPr/>
        </p:nvSpPr>
        <p:spPr>
          <a:xfrm>
            <a:off x="8275320" y="1920240"/>
            <a:ext cx="502920" cy="502920"/>
          </a:xfrm>
          <a:prstGeom prst="ellipse">
            <a:avLst/>
          </a:prstGeom>
          <a:solidFill>
            <a:srgbClr val="0F766E"/>
          </a:solidFill>
          <a:ln w="12700">
            <a:solidFill>
              <a:srgbClr val="0F766E"/>
            </a:solidFill>
            <a:prstDash val="solid"/>
          </a:ln>
        </p:spPr>
      </p:sp>
      <p:sp>
        <p:nvSpPr>
          <p:cNvPr id="17" name="Text 15"/>
          <p:cNvSpPr txBox="1"/>
          <p:nvPr/>
        </p:nvSpPr>
        <p:spPr>
          <a:xfrm>
            <a:off x="8275320" y="19202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8" name="Text 16"/>
          <p:cNvSpPr txBox="1"/>
          <p:nvPr/>
        </p:nvSpPr>
        <p:spPr>
          <a:xfrm>
            <a:off x="8915400" y="1965960"/>
            <a:ext cx="2514600" cy="457200"/>
          </a:xfrm>
          <a:prstGeom prst="rect">
            <a:avLst/>
          </a:prstGeom>
          <a:noFill/>
          <a:ln/>
        </p:spPr>
        <p:txBody>
          <a:bodyPr wrap="square" lIns="0" tIns="0" rIns="0" bIns="0" rtlCol="0" anchor="ctr"/>
          <a:lstStyle/>
          <a:p>
            <a:pPr indent="0" marL="0">
              <a:buNone/>
            </a:pPr>
            <a:r>
              <a:rPr lang="en-US" sz="1700" b="1" dirty="0">
                <a:solidFill>
                  <a:srgbClr val="0F172A"/>
                </a:solidFill>
              </a:rPr>
              <a:t>Recurring obligations</a:t>
            </a:r>
            <a:endParaRPr lang="en-US" sz="1700" dirty="0"/>
          </a:p>
        </p:txBody>
      </p:sp>
      <p:sp>
        <p:nvSpPr>
          <p:cNvPr id="19" name="Text 17"/>
          <p:cNvSpPr txBox="1"/>
          <p:nvPr/>
        </p:nvSpPr>
        <p:spPr>
          <a:xfrm>
            <a:off x="8275320" y="2560320"/>
            <a:ext cx="3108960" cy="868680"/>
          </a:xfrm>
          <a:prstGeom prst="rect">
            <a:avLst/>
          </a:prstGeom>
          <a:noFill/>
          <a:ln/>
        </p:spPr>
        <p:txBody>
          <a:bodyPr wrap="square" lIns="0" tIns="0" rIns="0" bIns="0" rtlCol="0" anchor="t"/>
          <a:lstStyle/>
          <a:p>
            <a:pPr indent="0" marL="0">
              <a:buNone/>
            </a:pPr>
            <a:r>
              <a:rPr lang="en-US" sz="1400" dirty="0">
                <a:solidFill>
                  <a:srgbClr val="334155"/>
                </a:solidFill>
              </a:rPr>
              <a:t>Rent, subscriptions and retainers are paid on their day — never twice in a period.</a:t>
            </a:r>
            <a:endParaRPr lang="en-US" sz="1400" dirty="0"/>
          </a:p>
        </p:txBody>
      </p:sp>
      <p:sp>
        <p:nvSpPr>
          <p:cNvPr id="20" name="Text 18"/>
          <p:cNvSpPr txBox="1"/>
          <p:nvPr/>
        </p:nvSpPr>
        <p:spPr>
          <a:xfrm>
            <a:off x="8275320" y="3429000"/>
            <a:ext cx="3108960" cy="274320"/>
          </a:xfrm>
          <a:prstGeom prst="rect">
            <a:avLst/>
          </a:prstGeom>
          <a:noFill/>
          <a:ln/>
        </p:spPr>
        <p:txBody>
          <a:bodyPr wrap="square" lIns="0" tIns="0" rIns="0" bIns="0" rtlCol="0" anchor="t"/>
          <a:lstStyle/>
          <a:p>
            <a:pPr indent="0" marL="0">
              <a:buNone/>
            </a:pPr>
            <a:r>
              <a:rPr lang="en-US" sz="1100" i="1" dirty="0">
                <a:solidFill>
                  <a:srgbClr val="475569"/>
                </a:solidFill>
              </a:rPr>
              <a:t>eval: T08 · T09 · T10</a:t>
            </a:r>
            <a:endParaRPr lang="en-US" sz="1100" dirty="0"/>
          </a:p>
        </p:txBody>
      </p:sp>
      <p:sp>
        <p:nvSpPr>
          <p:cNvPr id="21" name="cap4"/>
          <p:cNvSpPr/>
          <p:nvPr/>
        </p:nvSpPr>
        <p:spPr>
          <a:xfrm>
            <a:off x="548640" y="4023360"/>
            <a:ext cx="3520440" cy="2103120"/>
          </a:xfrm>
          <a:prstGeom prst="roundRect">
            <a:avLst>
              <a:gd name="adj" fmla="val 5217"/>
            </a:avLst>
          </a:prstGeom>
          <a:solidFill>
            <a:srgbClr val="FFFFFF"/>
          </a:solidFill>
          <a:ln w="12700">
            <a:solidFill>
              <a:srgbClr val="E2E8F0"/>
            </a:solidFill>
            <a:prstDash val="solid"/>
          </a:ln>
          <a:effectLst>
            <a:outerShdw sx="100000" sy="100000" kx="0" ky="0" algn="bl" rotWithShape="0" blurRad="76200" dist="25400" dir="5400000">
              <a:srgbClr val="94A3B8">
                <a:alpha val="25000"/>
              </a:srgbClr>
            </a:outerShdw>
          </a:effectLst>
        </p:spPr>
      </p:sp>
      <p:sp>
        <p:nvSpPr>
          <p:cNvPr id="22" name="Shape 20"/>
          <p:cNvSpPr/>
          <p:nvPr/>
        </p:nvSpPr>
        <p:spPr>
          <a:xfrm>
            <a:off x="777240" y="4251960"/>
            <a:ext cx="502920" cy="502920"/>
          </a:xfrm>
          <a:prstGeom prst="ellipse">
            <a:avLst/>
          </a:prstGeom>
          <a:solidFill>
            <a:srgbClr val="0F766E"/>
          </a:solidFill>
          <a:ln w="12700">
            <a:solidFill>
              <a:srgbClr val="0F766E"/>
            </a:solidFill>
            <a:prstDash val="solid"/>
          </a:ln>
        </p:spPr>
      </p:sp>
      <p:sp>
        <p:nvSpPr>
          <p:cNvPr id="23" name="Text 21"/>
          <p:cNvSpPr txBox="1"/>
          <p:nvPr/>
        </p:nvSpPr>
        <p:spPr>
          <a:xfrm>
            <a:off x="777240" y="425196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24" name="Text 22"/>
          <p:cNvSpPr txBox="1"/>
          <p:nvPr/>
        </p:nvSpPr>
        <p:spPr>
          <a:xfrm>
            <a:off x="1417320" y="4297680"/>
            <a:ext cx="2514600" cy="457200"/>
          </a:xfrm>
          <a:prstGeom prst="rect">
            <a:avLst/>
          </a:prstGeom>
          <a:noFill/>
          <a:ln/>
        </p:spPr>
        <p:txBody>
          <a:bodyPr wrap="square" lIns="0" tIns="0" rIns="0" bIns="0" rtlCol="0" anchor="ctr"/>
          <a:lstStyle/>
          <a:p>
            <a:pPr indent="0" marL="0">
              <a:buNone/>
            </a:pPr>
            <a:r>
              <a:rPr lang="en-US" sz="1700" b="1" dirty="0">
                <a:solidFill>
                  <a:srgbClr val="0F172A"/>
                </a:solidFill>
              </a:rPr>
              <a:t>Runs the treasury</a:t>
            </a:r>
            <a:endParaRPr lang="en-US" sz="1700" dirty="0"/>
          </a:p>
        </p:txBody>
      </p:sp>
      <p:sp>
        <p:nvSpPr>
          <p:cNvPr id="25" name="Text 23"/>
          <p:cNvSpPr txBox="1"/>
          <p:nvPr/>
        </p:nvSpPr>
        <p:spPr>
          <a:xfrm>
            <a:off x="777240" y="4892040"/>
            <a:ext cx="3108960" cy="868680"/>
          </a:xfrm>
          <a:prstGeom prst="rect">
            <a:avLst/>
          </a:prstGeom>
          <a:noFill/>
          <a:ln/>
        </p:spPr>
        <p:txBody>
          <a:bodyPr wrap="square" lIns="0" tIns="0" rIns="0" bIns="0" rtlCol="0" anchor="t"/>
          <a:lstStyle/>
          <a:p>
            <a:pPr indent="0" marL="0">
              <a:buNone/>
            </a:pPr>
            <a:r>
              <a:rPr lang="en-US" sz="1400" dirty="0">
                <a:solidFill>
                  <a:srgbClr val="334155"/>
                </a:solidFill>
              </a:rPr>
              <a:t>Keeps a runway for upcoming bills, parks idle cash in an ERC-4626 reserve, withdraws before paying.</a:t>
            </a:r>
            <a:endParaRPr lang="en-US" sz="1400" dirty="0"/>
          </a:p>
        </p:txBody>
      </p:sp>
      <p:sp>
        <p:nvSpPr>
          <p:cNvPr id="26" name="Text 24"/>
          <p:cNvSpPr txBox="1"/>
          <p:nvPr/>
        </p:nvSpPr>
        <p:spPr>
          <a:xfrm>
            <a:off x="777240" y="5760720"/>
            <a:ext cx="3108960" cy="274320"/>
          </a:xfrm>
          <a:prstGeom prst="rect">
            <a:avLst/>
          </a:prstGeom>
          <a:noFill/>
          <a:ln/>
        </p:spPr>
        <p:txBody>
          <a:bodyPr wrap="square" lIns="0" tIns="0" rIns="0" bIns="0" rtlCol="0" anchor="t"/>
          <a:lstStyle/>
          <a:p>
            <a:pPr indent="0" marL="0">
              <a:buNone/>
            </a:pPr>
            <a:r>
              <a:rPr lang="en-US" sz="1100" i="1" dirty="0">
                <a:solidFill>
                  <a:srgbClr val="475569"/>
                </a:solidFill>
              </a:rPr>
              <a:t>eval: T11 · T12</a:t>
            </a:r>
            <a:endParaRPr lang="en-US" sz="1100" dirty="0"/>
          </a:p>
        </p:txBody>
      </p:sp>
      <p:sp>
        <p:nvSpPr>
          <p:cNvPr id="27" name="cap5"/>
          <p:cNvSpPr/>
          <p:nvPr/>
        </p:nvSpPr>
        <p:spPr>
          <a:xfrm>
            <a:off x="4297680" y="4023360"/>
            <a:ext cx="3520440" cy="2103120"/>
          </a:xfrm>
          <a:prstGeom prst="roundRect">
            <a:avLst>
              <a:gd name="adj" fmla="val 5217"/>
            </a:avLst>
          </a:prstGeom>
          <a:solidFill>
            <a:srgbClr val="FFFFFF"/>
          </a:solidFill>
          <a:ln w="12700">
            <a:solidFill>
              <a:srgbClr val="E2E8F0"/>
            </a:solidFill>
            <a:prstDash val="solid"/>
          </a:ln>
          <a:effectLst>
            <a:outerShdw sx="100000" sy="100000" kx="0" ky="0" algn="bl" rotWithShape="0" blurRad="76200" dist="25400" dir="5400000">
              <a:srgbClr val="94A3B8">
                <a:alpha val="25000"/>
              </a:srgbClr>
            </a:outerShdw>
          </a:effectLst>
        </p:spPr>
      </p:sp>
      <p:sp>
        <p:nvSpPr>
          <p:cNvPr id="28" name="Shape 26"/>
          <p:cNvSpPr/>
          <p:nvPr/>
        </p:nvSpPr>
        <p:spPr>
          <a:xfrm>
            <a:off x="4526280" y="4251960"/>
            <a:ext cx="502920" cy="502920"/>
          </a:xfrm>
          <a:prstGeom prst="ellipse">
            <a:avLst/>
          </a:prstGeom>
          <a:solidFill>
            <a:srgbClr val="0F766E"/>
          </a:solidFill>
          <a:ln w="12700">
            <a:solidFill>
              <a:srgbClr val="0F766E"/>
            </a:solidFill>
            <a:prstDash val="solid"/>
          </a:ln>
        </p:spPr>
      </p:sp>
      <p:sp>
        <p:nvSpPr>
          <p:cNvPr id="29" name="Text 27"/>
          <p:cNvSpPr txBox="1"/>
          <p:nvPr/>
        </p:nvSpPr>
        <p:spPr>
          <a:xfrm>
            <a:off x="4526280" y="425196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5</a:t>
            </a:r>
            <a:endParaRPr lang="en-US" sz="1600" dirty="0"/>
          </a:p>
        </p:txBody>
      </p:sp>
      <p:sp>
        <p:nvSpPr>
          <p:cNvPr id="30" name="Text 28"/>
          <p:cNvSpPr txBox="1"/>
          <p:nvPr/>
        </p:nvSpPr>
        <p:spPr>
          <a:xfrm>
            <a:off x="5166360" y="4297680"/>
            <a:ext cx="2514600" cy="457200"/>
          </a:xfrm>
          <a:prstGeom prst="rect">
            <a:avLst/>
          </a:prstGeom>
          <a:noFill/>
          <a:ln/>
        </p:spPr>
        <p:txBody>
          <a:bodyPr wrap="square" lIns="0" tIns="0" rIns="0" bIns="0" rtlCol="0" anchor="ctr"/>
          <a:lstStyle/>
          <a:p>
            <a:pPr indent="0" marL="0">
              <a:buNone/>
            </a:pPr>
            <a:r>
              <a:rPr lang="en-US" sz="1700" b="1" dirty="0">
                <a:solidFill>
                  <a:srgbClr val="0F172A"/>
                </a:solidFill>
              </a:rPr>
              <a:t>Talks like a colleague</a:t>
            </a:r>
            <a:endParaRPr lang="en-US" sz="1700" dirty="0"/>
          </a:p>
        </p:txBody>
      </p:sp>
      <p:sp>
        <p:nvSpPr>
          <p:cNvPr id="31" name="Text 29"/>
          <p:cNvSpPr txBox="1"/>
          <p:nvPr/>
        </p:nvSpPr>
        <p:spPr>
          <a:xfrm>
            <a:off x="4526280" y="4892040"/>
            <a:ext cx="3108960" cy="868680"/>
          </a:xfrm>
          <a:prstGeom prst="rect">
            <a:avLst/>
          </a:prstGeom>
          <a:noFill/>
          <a:ln/>
        </p:spPr>
        <p:txBody>
          <a:bodyPr wrap="square" lIns="0" tIns="0" rIns="0" bIns="0" rtlCol="0" anchor="t"/>
          <a:lstStyle/>
          <a:p>
            <a:pPr indent="0" marL="0">
              <a:buNone/>
            </a:pPr>
            <a:r>
              <a:rPr lang="en-US" sz="1400" dirty="0">
                <a:solidFill>
                  <a:srgbClr val="334155"/>
                </a:solidFill>
              </a:rPr>
              <a:t>“Tolong bayar semua tagihan minggu ini” — chat in English or Indonesian, with reasons.</a:t>
            </a:r>
            <a:endParaRPr lang="en-US" sz="1400" dirty="0"/>
          </a:p>
        </p:txBody>
      </p:sp>
      <p:sp>
        <p:nvSpPr>
          <p:cNvPr id="32" name="Text 30"/>
          <p:cNvSpPr txBox="1"/>
          <p:nvPr/>
        </p:nvSpPr>
        <p:spPr>
          <a:xfrm>
            <a:off x="4526280" y="5760720"/>
            <a:ext cx="3108960" cy="274320"/>
          </a:xfrm>
          <a:prstGeom prst="rect">
            <a:avLst/>
          </a:prstGeom>
          <a:noFill/>
          <a:ln/>
        </p:spPr>
        <p:txBody>
          <a:bodyPr wrap="square" lIns="0" tIns="0" rIns="0" bIns="0" rtlCol="0" anchor="t"/>
          <a:lstStyle/>
          <a:p>
            <a:pPr indent="0" marL="0">
              <a:buNone/>
            </a:pPr>
            <a:r>
              <a:rPr lang="en-US" sz="1100" i="1" dirty="0">
                <a:solidFill>
                  <a:srgbClr val="475569"/>
                </a:solidFill>
              </a:rPr>
              <a:t>eval: T14 · T15 · T16 · T17</a:t>
            </a:r>
            <a:endParaRPr lang="en-US" sz="1100" dirty="0"/>
          </a:p>
        </p:txBody>
      </p:sp>
      <p:sp>
        <p:nvSpPr>
          <p:cNvPr id="33" name="cap6"/>
          <p:cNvSpPr/>
          <p:nvPr/>
        </p:nvSpPr>
        <p:spPr>
          <a:xfrm>
            <a:off x="8046720" y="4023360"/>
            <a:ext cx="3520440" cy="2103120"/>
          </a:xfrm>
          <a:prstGeom prst="roundRect">
            <a:avLst>
              <a:gd name="adj" fmla="val 5217"/>
            </a:avLst>
          </a:prstGeom>
          <a:solidFill>
            <a:srgbClr val="FFFFFF"/>
          </a:solidFill>
          <a:ln w="12700">
            <a:solidFill>
              <a:srgbClr val="E2E8F0"/>
            </a:solidFill>
            <a:prstDash val="solid"/>
          </a:ln>
          <a:effectLst>
            <a:outerShdw sx="100000" sy="100000" kx="0" ky="0" algn="bl" rotWithShape="0" blurRad="76200" dist="25400" dir="5400000">
              <a:srgbClr val="94A3B8">
                <a:alpha val="25000"/>
              </a:srgbClr>
            </a:outerShdw>
          </a:effectLst>
        </p:spPr>
      </p:sp>
      <p:sp>
        <p:nvSpPr>
          <p:cNvPr id="34" name="Shape 32"/>
          <p:cNvSpPr/>
          <p:nvPr/>
        </p:nvSpPr>
        <p:spPr>
          <a:xfrm>
            <a:off x="8275320" y="4251960"/>
            <a:ext cx="502920" cy="502920"/>
          </a:xfrm>
          <a:prstGeom prst="ellipse">
            <a:avLst/>
          </a:prstGeom>
          <a:solidFill>
            <a:srgbClr val="0F766E"/>
          </a:solidFill>
          <a:ln w="12700">
            <a:solidFill>
              <a:srgbClr val="0F766E"/>
            </a:solidFill>
            <a:prstDash val="solid"/>
          </a:ln>
        </p:spPr>
      </p:sp>
      <p:sp>
        <p:nvSpPr>
          <p:cNvPr id="35" name="Text 33"/>
          <p:cNvSpPr txBox="1"/>
          <p:nvPr/>
        </p:nvSpPr>
        <p:spPr>
          <a:xfrm>
            <a:off x="8275320" y="425196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6</a:t>
            </a:r>
            <a:endParaRPr lang="en-US" sz="1600" dirty="0"/>
          </a:p>
        </p:txBody>
      </p:sp>
      <p:sp>
        <p:nvSpPr>
          <p:cNvPr id="36" name="Text 34"/>
          <p:cNvSpPr txBox="1"/>
          <p:nvPr/>
        </p:nvSpPr>
        <p:spPr>
          <a:xfrm>
            <a:off x="8915400" y="4297680"/>
            <a:ext cx="2514600" cy="457200"/>
          </a:xfrm>
          <a:prstGeom prst="rect">
            <a:avLst/>
          </a:prstGeom>
          <a:noFill/>
          <a:ln/>
        </p:spPr>
        <p:txBody>
          <a:bodyPr wrap="square" lIns="0" tIns="0" rIns="0" bIns="0" rtlCol="0" anchor="ctr"/>
          <a:lstStyle/>
          <a:p>
            <a:pPr indent="0" marL="0">
              <a:buNone/>
            </a:pPr>
            <a:r>
              <a:rPr lang="en-US" sz="1700" b="1" dirty="0">
                <a:solidFill>
                  <a:srgbClr val="0F172A"/>
                </a:solidFill>
              </a:rPr>
              <a:t>Proves what it did</a:t>
            </a:r>
            <a:endParaRPr lang="en-US" sz="1700" dirty="0"/>
          </a:p>
        </p:txBody>
      </p:sp>
      <p:sp>
        <p:nvSpPr>
          <p:cNvPr id="37" name="Text 35"/>
          <p:cNvSpPr txBox="1"/>
          <p:nvPr/>
        </p:nvSpPr>
        <p:spPr>
          <a:xfrm>
            <a:off x="8275320" y="4892040"/>
            <a:ext cx="3108960" cy="868680"/>
          </a:xfrm>
          <a:prstGeom prst="rect">
            <a:avLst/>
          </a:prstGeom>
          <a:noFill/>
          <a:ln/>
        </p:spPr>
        <p:txBody>
          <a:bodyPr wrap="square" lIns="0" tIns="0" rIns="0" bIns="0" rtlCol="0" anchor="t"/>
          <a:lstStyle/>
          <a:p>
            <a:pPr indent="0" marL="0">
              <a:buNone/>
            </a:pPr>
            <a:r>
              <a:rPr lang="en-US" sz="1400" dirty="0">
                <a:solidFill>
                  <a:srgbClr val="334155"/>
                </a:solidFill>
              </a:rPr>
              <a:t>Each decision is hashed before signing and anchored on-chain; one click verifies the trail.</a:t>
            </a:r>
            <a:endParaRPr lang="en-US" sz="1400" dirty="0"/>
          </a:p>
        </p:txBody>
      </p:sp>
      <p:sp>
        <p:nvSpPr>
          <p:cNvPr id="38" name="Text 36"/>
          <p:cNvSpPr txBox="1"/>
          <p:nvPr/>
        </p:nvSpPr>
        <p:spPr>
          <a:xfrm>
            <a:off x="8275320" y="5760720"/>
            <a:ext cx="3108960" cy="274320"/>
          </a:xfrm>
          <a:prstGeom prst="rect">
            <a:avLst/>
          </a:prstGeom>
          <a:noFill/>
          <a:ln/>
        </p:spPr>
        <p:txBody>
          <a:bodyPr wrap="square" lIns="0" tIns="0" rIns="0" bIns="0" rtlCol="0" anchor="t"/>
          <a:lstStyle/>
          <a:p>
            <a:pPr indent="0" marL="0">
              <a:buNone/>
            </a:pPr>
            <a:r>
              <a:rPr lang="en-US" sz="1100" i="1" dirty="0">
                <a:solidFill>
                  <a:srgbClr val="475569"/>
                </a:solidFill>
              </a:rPr>
              <a:t>eval: T18 · T19</a:t>
            </a:r>
            <a:endParaRPr lang="en-US" sz="11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75569"/>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1188720"/>
          </a:xfrm>
          <a:prstGeom prst="rect">
            <a:avLst/>
          </a:prstGeom>
          <a:noFill/>
          <a:ln/>
        </p:spPr>
        <p:txBody>
          <a:bodyPr wrap="square" lIns="0" tIns="0" rIns="0" bIns="0" rtlCol="0" anchor="ctr"/>
          <a:lstStyle/>
          <a:p>
            <a:pPr indent="0" marL="0">
              <a:buNone/>
            </a:pPr>
            <a:r>
              <a:rPr lang="en-US" sz="3400" b="1" dirty="0">
                <a:solidFill>
                  <a:schemeClr val="tx1"/>
                </a:solidFill>
              </a:rPr>
              <a:t>One instruction, thirteen invoices, zero losses</a:t>
            </a:r>
            <a:endParaRPr lang="en-US" sz="3400" dirty="0"/>
          </a:p>
        </p:txBody>
      </p:sp>
      <p:sp>
        <p:nvSpPr>
          <p:cNvPr id="3" name="Shape 1"/>
          <p:cNvSpPr/>
          <p:nvPr/>
        </p:nvSpPr>
        <p:spPr>
          <a:xfrm>
            <a:off x="557784" y="1746504"/>
            <a:ext cx="6382512" cy="4014216"/>
          </a:xfrm>
          <a:prstGeom prst="rect">
            <a:avLst/>
          </a:prstGeom>
          <a:solidFill>
            <a:srgbClr val="0F172A"/>
          </a:solidFill>
          <a:ln w="12700">
            <a:solidFill>
              <a:srgbClr val="CBD5E1"/>
            </a:solidFill>
            <a:prstDash val="solid"/>
          </a:ln>
        </p:spPr>
      </p:sp>
      <p:pic>
        <p:nvPicPr>
          <p:cNvPr id="4" name="Image 0" descr="C:\Users\Ari Azis\FinTechathon2026\kendali\docs\img\ui-assistant.png">    </p:cNvPr>
          <p:cNvPicPr>
            <a:picLocks noChangeAspect="1"/>
          </p:cNvPicPr>
          <p:nvPr/>
        </p:nvPicPr>
        <p:blipFill>
          <a:blip r:embed="rId1"/>
          <a:stretch>
            <a:fillRect/>
          </a:stretch>
        </p:blipFill>
        <p:spPr>
          <a:xfrm>
            <a:off x="594360" y="1783080"/>
            <a:ext cx="6309360" cy="3941064"/>
          </a:xfrm>
          <a:prstGeom prst="rect">
            <a:avLst/>
          </a:prstGeom>
        </p:spPr>
      </p:pic>
      <p:sp>
        <p:nvSpPr>
          <p:cNvPr id="5" name="Text 2"/>
          <p:cNvSpPr txBox="1"/>
          <p:nvPr/>
        </p:nvSpPr>
        <p:spPr>
          <a:xfrm>
            <a:off x="7269480" y="1691640"/>
            <a:ext cx="4389120" cy="411480"/>
          </a:xfrm>
          <a:prstGeom prst="rect">
            <a:avLst/>
          </a:prstGeom>
          <a:noFill/>
          <a:ln/>
        </p:spPr>
        <p:txBody>
          <a:bodyPr wrap="square" lIns="0" tIns="0" rIns="0" bIns="0" rtlCol="0" anchor="t"/>
          <a:lstStyle/>
          <a:p>
            <a:pPr indent="0" marL="0">
              <a:buNone/>
            </a:pPr>
            <a:r>
              <a:rPr lang="en-US" sz="1700" i="1" dirty="0">
                <a:solidFill>
                  <a:srgbClr val="0F172A"/>
                </a:solidFill>
              </a:rPr>
              <a:t>“pay all invoices due this week”</a:t>
            </a:r>
            <a:endParaRPr lang="en-US" sz="1700" dirty="0"/>
          </a:p>
        </p:txBody>
      </p:sp>
      <p:sp>
        <p:nvSpPr>
          <p:cNvPr id="6" name="Text 3"/>
          <p:cNvSpPr txBox="1"/>
          <p:nvPr/>
        </p:nvSpPr>
        <p:spPr>
          <a:xfrm>
            <a:off x="7269480" y="2240280"/>
            <a:ext cx="731520" cy="777240"/>
          </a:xfrm>
          <a:prstGeom prst="rect">
            <a:avLst/>
          </a:prstGeom>
          <a:noFill/>
          <a:ln/>
        </p:spPr>
        <p:txBody>
          <a:bodyPr wrap="square" lIns="0" tIns="0" rIns="0" bIns="0" rtlCol="0" anchor="ctr"/>
          <a:lstStyle/>
          <a:p>
            <a:pPr indent="0" marL="0">
              <a:buNone/>
            </a:pPr>
            <a:r>
              <a:rPr lang="en-US" sz="4400" b="1" dirty="0">
                <a:solidFill>
                  <a:srgbClr val="0F766E"/>
                </a:solidFill>
              </a:rPr>
              <a:t>1</a:t>
            </a:r>
            <a:endParaRPr lang="en-US" sz="4400" dirty="0"/>
          </a:p>
        </p:txBody>
      </p:sp>
      <p:sp>
        <p:nvSpPr>
          <p:cNvPr id="7" name="Text 4"/>
          <p:cNvSpPr txBox="1"/>
          <p:nvPr/>
        </p:nvSpPr>
        <p:spPr>
          <a:xfrm>
            <a:off x="8092440" y="2313432"/>
            <a:ext cx="3566160" cy="685800"/>
          </a:xfrm>
          <a:prstGeom prst="rect">
            <a:avLst/>
          </a:prstGeom>
          <a:noFill/>
          <a:ln/>
        </p:spPr>
        <p:txBody>
          <a:bodyPr wrap="square" lIns="0" tIns="0" rIns="0" bIns="0" rtlCol="0" anchor="ctr"/>
          <a:lstStyle/>
          <a:p>
            <a:pPr indent="0" marL="0">
              <a:buNone/>
            </a:pPr>
            <a:r>
              <a:rPr lang="en-US" sz="1400" dirty="0">
                <a:solidFill>
                  <a:srgbClr val="334155"/>
                </a:solidFill>
              </a:rPr>
              <a:t>paid automatically — all checks passed</a:t>
            </a:r>
            <a:endParaRPr lang="en-US" sz="1400" dirty="0"/>
          </a:p>
        </p:txBody>
      </p:sp>
      <p:sp>
        <p:nvSpPr>
          <p:cNvPr id="8" name="Text 5"/>
          <p:cNvSpPr txBox="1"/>
          <p:nvPr/>
        </p:nvSpPr>
        <p:spPr>
          <a:xfrm>
            <a:off x="7269480" y="3136392"/>
            <a:ext cx="731520" cy="777240"/>
          </a:xfrm>
          <a:prstGeom prst="rect">
            <a:avLst/>
          </a:prstGeom>
          <a:noFill/>
          <a:ln/>
        </p:spPr>
        <p:txBody>
          <a:bodyPr wrap="square" lIns="0" tIns="0" rIns="0" bIns="0" rtlCol="0" anchor="ctr"/>
          <a:lstStyle/>
          <a:p>
            <a:pPr indent="0" marL="0">
              <a:buNone/>
            </a:pPr>
            <a:r>
              <a:rPr lang="en-US" sz="4400" b="1" dirty="0">
                <a:solidFill>
                  <a:srgbClr val="B45309"/>
                </a:solidFill>
              </a:rPr>
              <a:t>4</a:t>
            </a:r>
            <a:endParaRPr lang="en-US" sz="4400" dirty="0"/>
          </a:p>
        </p:txBody>
      </p:sp>
      <p:sp>
        <p:nvSpPr>
          <p:cNvPr id="9" name="Text 6"/>
          <p:cNvSpPr txBox="1"/>
          <p:nvPr/>
        </p:nvSpPr>
        <p:spPr>
          <a:xfrm>
            <a:off x="8092440" y="3209544"/>
            <a:ext cx="3566160" cy="685800"/>
          </a:xfrm>
          <a:prstGeom prst="rect">
            <a:avLst/>
          </a:prstGeom>
          <a:noFill/>
          <a:ln/>
        </p:spPr>
        <p:txBody>
          <a:bodyPr wrap="square" lIns="0" tIns="0" rIns="0" bIns="0" rtlCol="0" anchor="ctr"/>
          <a:lstStyle/>
          <a:p>
            <a:pPr indent="0" marL="0">
              <a:buNone/>
            </a:pPr>
            <a:r>
              <a:rPr lang="en-US" sz="1400" dirty="0">
                <a:solidFill>
                  <a:srgbClr val="334155"/>
                </a:solidFill>
              </a:rPr>
              <a:t>sent to owner approval — large, new payee, anomaly, arithmetic</a:t>
            </a:r>
            <a:endParaRPr lang="en-US" sz="1400" dirty="0"/>
          </a:p>
        </p:txBody>
      </p:sp>
      <p:sp>
        <p:nvSpPr>
          <p:cNvPr id="10" name="Text 7"/>
          <p:cNvSpPr txBox="1"/>
          <p:nvPr/>
        </p:nvSpPr>
        <p:spPr>
          <a:xfrm>
            <a:off x="7269480" y="4032504"/>
            <a:ext cx="731520" cy="777240"/>
          </a:xfrm>
          <a:prstGeom prst="rect">
            <a:avLst/>
          </a:prstGeom>
          <a:noFill/>
          <a:ln/>
        </p:spPr>
        <p:txBody>
          <a:bodyPr wrap="square" lIns="0" tIns="0" rIns="0" bIns="0" rtlCol="0" anchor="ctr"/>
          <a:lstStyle/>
          <a:p>
            <a:pPr indent="0" marL="0">
              <a:buNone/>
            </a:pPr>
            <a:r>
              <a:rPr lang="en-US" sz="4400" b="1" dirty="0">
                <a:solidFill>
                  <a:srgbClr val="475569"/>
                </a:solidFill>
              </a:rPr>
              <a:t>1</a:t>
            </a:r>
            <a:endParaRPr lang="en-US" sz="4400" dirty="0"/>
          </a:p>
        </p:txBody>
      </p:sp>
      <p:sp>
        <p:nvSpPr>
          <p:cNvPr id="11" name="Text 8"/>
          <p:cNvSpPr txBox="1"/>
          <p:nvPr/>
        </p:nvSpPr>
        <p:spPr>
          <a:xfrm>
            <a:off x="8092440" y="4105656"/>
            <a:ext cx="3566160" cy="685800"/>
          </a:xfrm>
          <a:prstGeom prst="rect">
            <a:avLst/>
          </a:prstGeom>
          <a:noFill/>
          <a:ln/>
        </p:spPr>
        <p:txBody>
          <a:bodyPr wrap="square" lIns="0" tIns="0" rIns="0" bIns="0" rtlCol="0" anchor="ctr"/>
          <a:lstStyle/>
          <a:p>
            <a:pPr indent="0" marL="0">
              <a:buNone/>
            </a:pPr>
            <a:r>
              <a:rPr lang="en-US" sz="1400" dirty="0">
                <a:solidFill>
                  <a:srgbClr val="334155"/>
                </a:solidFill>
              </a:rPr>
              <a:t>held — not due until 28 October</a:t>
            </a:r>
            <a:endParaRPr lang="en-US" sz="1400" dirty="0"/>
          </a:p>
        </p:txBody>
      </p:sp>
      <p:sp>
        <p:nvSpPr>
          <p:cNvPr id="12" name="Text 9"/>
          <p:cNvSpPr txBox="1"/>
          <p:nvPr/>
        </p:nvSpPr>
        <p:spPr>
          <a:xfrm>
            <a:off x="7269480" y="4928616"/>
            <a:ext cx="731520" cy="777240"/>
          </a:xfrm>
          <a:prstGeom prst="rect">
            <a:avLst/>
          </a:prstGeom>
          <a:noFill/>
          <a:ln/>
        </p:spPr>
        <p:txBody>
          <a:bodyPr wrap="square" lIns="0" tIns="0" rIns="0" bIns="0" rtlCol="0" anchor="ctr"/>
          <a:lstStyle/>
          <a:p>
            <a:pPr indent="0" marL="0">
              <a:buNone/>
            </a:pPr>
            <a:r>
              <a:rPr lang="en-US" sz="4400" b="1" dirty="0">
                <a:solidFill>
                  <a:srgbClr val="B91C1C"/>
                </a:solidFill>
              </a:rPr>
              <a:t>7</a:t>
            </a:r>
            <a:endParaRPr lang="en-US" sz="4400" dirty="0"/>
          </a:p>
        </p:txBody>
      </p:sp>
      <p:sp>
        <p:nvSpPr>
          <p:cNvPr id="13" name="Text 10"/>
          <p:cNvSpPr txBox="1"/>
          <p:nvPr/>
        </p:nvSpPr>
        <p:spPr>
          <a:xfrm>
            <a:off x="8092440" y="5001768"/>
            <a:ext cx="3566160" cy="685800"/>
          </a:xfrm>
          <a:prstGeom prst="rect">
            <a:avLst/>
          </a:prstGeom>
          <a:noFill/>
          <a:ln/>
        </p:spPr>
        <p:txBody>
          <a:bodyPr wrap="square" lIns="0" tIns="0" rIns="0" bIns="0" rtlCol="0" anchor="ctr"/>
          <a:lstStyle/>
          <a:p>
            <a:pPr indent="0" marL="0">
              <a:buNone/>
            </a:pPr>
            <a:r>
              <a:rPr lang="en-US" sz="1400" dirty="0">
                <a:solidFill>
                  <a:srgbClr val="334155"/>
                </a:solidFill>
              </a:rPr>
              <a:t>blocked — BEC, injection, duplicate, homoglyph, poisoning, unknown issuer, sanctions</a:t>
            </a:r>
            <a:endParaRPr lang="en-US" sz="1400" dirty="0"/>
          </a:p>
        </p:txBody>
      </p:sp>
      <p:sp>
        <p:nvSpPr>
          <p:cNvPr id="14" name="Text 11"/>
          <p:cNvSpPr txBox="1"/>
          <p:nvPr/>
        </p:nvSpPr>
        <p:spPr>
          <a:xfrm>
            <a:off x="7269480" y="5852160"/>
            <a:ext cx="4389120" cy="411480"/>
          </a:xfrm>
          <a:prstGeom prst="rect">
            <a:avLst/>
          </a:prstGeom>
          <a:noFill/>
          <a:ln/>
        </p:spPr>
        <p:txBody>
          <a:bodyPr wrap="square" lIns="0" tIns="0" rIns="0" bIns="0" rtlCol="0" anchor="t"/>
          <a:lstStyle/>
          <a:p>
            <a:pPr indent="0" marL="0">
              <a:buNone/>
            </a:pPr>
            <a:r>
              <a:rPr lang="en-US" sz="1300" b="1" dirty="0">
                <a:solidFill>
                  <a:srgbClr val="0F766E"/>
                </a:solidFill>
              </a:rPr>
              <a:t>Attacker wallets received 0 tUSDC · every block anchored on-chain</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75569"/>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1188720"/>
          </a:xfrm>
          <a:prstGeom prst="rect">
            <a:avLst/>
          </a:prstGeom>
          <a:noFill/>
          <a:ln/>
        </p:spPr>
        <p:txBody>
          <a:bodyPr wrap="square" lIns="0" tIns="0" rIns="0" bIns="0" rtlCol="0" anchor="ctr"/>
          <a:lstStyle/>
          <a:p>
            <a:pPr indent="0" marL="0">
              <a:buNone/>
            </a:pPr>
            <a:r>
              <a:rPr lang="en-US" sz="3400" b="1" dirty="0">
                <a:solidFill>
                  <a:schemeClr val="tx1"/>
                </a:solidFill>
              </a:rPr>
              <a:t>Every attack class we tested was stopped</a:t>
            </a:r>
            <a:endParaRPr lang="en-US" sz="3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3840480"/>
                <a:gridCol w="4526280"/>
                <a:gridCol w="1600200"/>
                <a:gridCol w="1097280"/>
              </a:tblGrid>
              <a:tr h="402336">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Attack</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How Kendali detects it</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Outcome</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Test</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r>
              <a:tr h="402336">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Business email compromise: new wallet + urgency</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Payee bound to the KYB wallet; pressure language flagged</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b="1" dirty="0">
                          <a:solidFill>
                            <a:srgbClr val="B91C1C"/>
                          </a:solidFill>
                          <a:latin typeface="Calibri" pitchFamily="34" charset="0"/>
                          <a:ea typeface="Calibri" pitchFamily="34" charset="-122"/>
                          <a:cs typeface="Calibri" pitchFamily="34" charset="-120"/>
                        </a:rPr>
                        <a:t>BLOCK</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A01</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02336">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Prompt injection: English, Indonesian, zero-width split</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Deterministic scanner + LLM second opinion; documents are data</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b="1" dirty="0">
                          <a:solidFill>
                            <a:srgbClr val="B91C1C"/>
                          </a:solidFill>
                          <a:latin typeface="Calibri" pitchFamily="34" charset="0"/>
                          <a:ea typeface="Calibri" pitchFamily="34" charset="-122"/>
                          <a:cs typeface="Calibri" pitchFamily="34" charset="-120"/>
                        </a:rPr>
                        <a:t>BLOCK</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A02 A14 A15</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02336">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Address poisoning (look-alike wallet)</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Prefix/suffix similarity to known vendor wallets</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b="1" dirty="0">
                          <a:solidFill>
                            <a:srgbClr val="B91C1C"/>
                          </a:solidFill>
                          <a:latin typeface="Calibri" pitchFamily="34" charset="0"/>
                          <a:ea typeface="Calibri" pitchFamily="34" charset="-122"/>
                          <a:cs typeface="Calibri" pitchFamily="34" charset="-120"/>
                        </a:rPr>
                        <a:t>BLOCK</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A05</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02336">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Homoglyph vendor name</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Confusable characters folded and flagged</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b="1" dirty="0">
                          <a:solidFill>
                            <a:srgbClr val="B91C1C"/>
                          </a:solidFill>
                          <a:latin typeface="Calibri" pitchFamily="34" charset="0"/>
                          <a:ea typeface="Calibri" pitchFamily="34" charset="-122"/>
                          <a:cs typeface="Calibri" pitchFamily="34" charset="-120"/>
                        </a:rPr>
                        <a:t>BLOCK</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A04</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02336">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Sanctioned counterparty (listed after onboarding)</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Screening of every address at payment time</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b="1" dirty="0">
                          <a:solidFill>
                            <a:srgbClr val="B91C1C"/>
                          </a:solidFill>
                          <a:latin typeface="Calibri" pitchFamily="34" charset="0"/>
                          <a:ea typeface="Calibri" pitchFamily="34" charset="-122"/>
                          <a:cs typeface="Calibri" pitchFamily="34" charset="-120"/>
                        </a:rPr>
                        <a:t>BLOCK</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A07</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02336">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Duplicate “reminder” invoice</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Payment reference must be unique on-chain</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b="1" dirty="0">
                          <a:solidFill>
                            <a:srgbClr val="B91C1C"/>
                          </a:solidFill>
                          <a:latin typeface="Calibri" pitchFamily="34" charset="0"/>
                          <a:ea typeface="Calibri" pitchFamily="34" charset="-122"/>
                          <a:cs typeface="Calibri" pitchFamily="34" charset="-120"/>
                        </a:rPr>
                        <a:t>BLOCK</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A03</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02336">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Inflated amount · bad arithmetic · above hard cap</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Vendor history, line-item maths, absolute cap</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b="1" dirty="0">
                          <a:solidFill>
                            <a:srgbClr val="B45309"/>
                          </a:solidFill>
                          <a:latin typeface="Calibri" pitchFamily="34" charset="0"/>
                          <a:ea typeface="Calibri" pitchFamily="34" charset="-122"/>
                          <a:cs typeface="Calibri" pitchFamily="34" charset="-120"/>
                        </a:rPr>
                        <a:t>APPROVAL / BLOCK</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A08 A09 A23</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02336">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Chat: fake owner, raw address, raise limit, allowance</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Mandate checks run before — and override — the LLM</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b="1" dirty="0">
                          <a:solidFill>
                            <a:srgbClr val="7C3AED"/>
                          </a:solidFill>
                          <a:latin typeface="Calibri" pitchFamily="34" charset="0"/>
                          <a:ea typeface="Calibri" pitchFamily="34" charset="-122"/>
                          <a:cs typeface="Calibri" pitchFamily="34" charset="-120"/>
                        </a:rPr>
                        <a:t>REFUSE</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A10–A13</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02336">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Stolen agent key: 6 on-chain attack variants</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KendaliVault rejects the transaction</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b="1" dirty="0">
                          <a:solidFill>
                            <a:srgbClr val="0F766E"/>
                          </a:solidFill>
                          <a:latin typeface="Calibri" pitchFamily="34" charset="0"/>
                          <a:ea typeface="Calibri" pitchFamily="34" charset="-122"/>
                          <a:cs typeface="Calibri" pitchFamily="34" charset="-120"/>
                        </a:rPr>
                        <a:t>REVERT</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A16–A21</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02336">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Tampering with the local audit log</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Hash chain + on-chain decision anchors</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b="1" dirty="0">
                          <a:solidFill>
                            <a:srgbClr val="0F766E"/>
                          </a:solidFill>
                          <a:latin typeface="Calibri" pitchFamily="34" charset="0"/>
                          <a:ea typeface="Calibri" pitchFamily="34" charset="-122"/>
                          <a:cs typeface="Calibri" pitchFamily="34" charset="-120"/>
                        </a:rPr>
                        <a:t>DETECTED</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A22</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75569"/>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1188720"/>
          </a:xfrm>
          <a:prstGeom prst="rect">
            <a:avLst/>
          </a:prstGeom>
          <a:noFill/>
          <a:ln/>
        </p:spPr>
        <p:txBody>
          <a:bodyPr wrap="square" lIns="0" tIns="0" rIns="0" bIns="0" rtlCol="0" anchor="ctr"/>
          <a:lstStyle/>
          <a:p>
            <a:pPr indent="0" marL="0">
              <a:buNone/>
            </a:pPr>
            <a:r>
              <a:rPr lang="en-US" sz="3400" b="1" dirty="0">
                <a:solidFill>
                  <a:schemeClr val="tx1"/>
                </a:solidFill>
              </a:rPr>
              <a:t>Four permission tiers — the dangerous ones live on-chain</a:t>
            </a:r>
            <a:endParaRPr lang="en-US" sz="3400" dirty="0"/>
          </a:p>
        </p:txBody>
      </p:sp>
      <p:sp>
        <p:nvSpPr>
          <p:cNvPr id="3" name="tierT0"/>
          <p:cNvSpPr/>
          <p:nvPr/>
        </p:nvSpPr>
        <p:spPr>
          <a:xfrm>
            <a:off x="548640" y="1691640"/>
            <a:ext cx="2606040" cy="3154680"/>
          </a:xfrm>
          <a:prstGeom prst="roundRect">
            <a:avLst>
              <a:gd name="adj" fmla="val 4211"/>
            </a:avLst>
          </a:prstGeom>
          <a:solidFill>
            <a:srgbClr val="FFFFFF"/>
          </a:solidFill>
          <a:ln w="12700">
            <a:solidFill>
              <a:srgbClr val="E2E8F0"/>
            </a:solidFill>
            <a:prstDash val="solid"/>
          </a:ln>
          <a:effectLst>
            <a:outerShdw sx="100000" sy="100000" kx="0" ky="0" algn="bl" rotWithShape="0" blurRad="76200" dist="25400" dir="5400000">
              <a:srgbClr val="94A3B8">
                <a:alpha val="25000"/>
              </a:srgbClr>
            </a:outerShdw>
          </a:effectLst>
        </p:spPr>
      </p:sp>
      <p:sp>
        <p:nvSpPr>
          <p:cNvPr id="4" name="Shape 2"/>
          <p:cNvSpPr/>
          <p:nvPr/>
        </p:nvSpPr>
        <p:spPr>
          <a:xfrm>
            <a:off x="777240" y="1874520"/>
            <a:ext cx="640080" cy="640080"/>
          </a:xfrm>
          <a:prstGeom prst="ellipse">
            <a:avLst/>
          </a:prstGeom>
          <a:solidFill>
            <a:srgbClr val="1D4ED8"/>
          </a:solidFill>
          <a:ln w="12700">
            <a:solidFill>
              <a:srgbClr val="1D4ED8"/>
            </a:solidFill>
            <a:prstDash val="solid"/>
          </a:ln>
        </p:spPr>
      </p:sp>
      <p:sp>
        <p:nvSpPr>
          <p:cNvPr id="5" name="Text 3"/>
          <p:cNvSpPr txBox="1"/>
          <p:nvPr/>
        </p:nvSpPr>
        <p:spPr>
          <a:xfrm>
            <a:off x="777240" y="187452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rPr>
              <a:t>T0</a:t>
            </a:r>
            <a:endParaRPr lang="en-US" sz="1600" dirty="0"/>
          </a:p>
        </p:txBody>
      </p:sp>
      <p:sp>
        <p:nvSpPr>
          <p:cNvPr id="6" name="Text 4"/>
          <p:cNvSpPr txBox="1"/>
          <p:nvPr/>
        </p:nvSpPr>
        <p:spPr>
          <a:xfrm>
            <a:off x="777240" y="2651760"/>
            <a:ext cx="2194560" cy="594360"/>
          </a:xfrm>
          <a:prstGeom prst="rect">
            <a:avLst/>
          </a:prstGeom>
          <a:noFill/>
          <a:ln/>
        </p:spPr>
        <p:txBody>
          <a:bodyPr wrap="square" lIns="0" tIns="0" rIns="0" bIns="0" rtlCol="0" anchor="t"/>
          <a:lstStyle/>
          <a:p>
            <a:pPr indent="0" marL="0">
              <a:buNone/>
            </a:pPr>
            <a:r>
              <a:rPr lang="en-US" sz="1700" b="1" dirty="0">
                <a:solidFill>
                  <a:srgbClr val="0F172A"/>
                </a:solidFill>
              </a:rPr>
              <a:t>Read-only</a:t>
            </a:r>
            <a:endParaRPr lang="en-US" sz="1700" dirty="0"/>
          </a:p>
        </p:txBody>
      </p:sp>
      <p:sp>
        <p:nvSpPr>
          <p:cNvPr id="7" name="Text 5"/>
          <p:cNvSpPr txBox="1"/>
          <p:nvPr/>
        </p:nvSpPr>
        <p:spPr>
          <a:xfrm>
            <a:off x="777240" y="3246120"/>
            <a:ext cx="2194560" cy="457200"/>
          </a:xfrm>
          <a:prstGeom prst="rect">
            <a:avLst/>
          </a:prstGeom>
          <a:noFill/>
          <a:ln/>
        </p:spPr>
        <p:txBody>
          <a:bodyPr wrap="square" lIns="0" tIns="0" rIns="0" bIns="0" rtlCol="0" anchor="t"/>
          <a:lstStyle/>
          <a:p>
            <a:pPr indent="0" marL="0">
              <a:buNone/>
            </a:pPr>
            <a:r>
              <a:rPr lang="en-US" sz="1300" i="1" dirty="0">
                <a:solidFill>
                  <a:srgbClr val="1D4ED8"/>
                </a:solidFill>
              </a:rPr>
              <a:t>Agent, anyone</a:t>
            </a:r>
            <a:endParaRPr lang="en-US" sz="1300" dirty="0"/>
          </a:p>
        </p:txBody>
      </p:sp>
      <p:sp>
        <p:nvSpPr>
          <p:cNvPr id="8" name="Text 6"/>
          <p:cNvSpPr txBox="1"/>
          <p:nvPr/>
        </p:nvSpPr>
        <p:spPr>
          <a:xfrm>
            <a:off x="777240" y="3703320"/>
            <a:ext cx="2194560" cy="1097280"/>
          </a:xfrm>
          <a:prstGeom prst="rect">
            <a:avLst/>
          </a:prstGeom>
          <a:noFill/>
          <a:ln/>
        </p:spPr>
        <p:txBody>
          <a:bodyPr wrap="square" lIns="0" tIns="0" rIns="0" bIns="0" rtlCol="0" anchor="t"/>
          <a:lstStyle/>
          <a:p>
            <a:pPr indent="0" marL="0">
              <a:buNone/>
            </a:pPr>
            <a:r>
              <a:rPr lang="en-US" sz="1300" dirty="0">
                <a:solidFill>
                  <a:srgbClr val="334155"/>
                </a:solidFill>
              </a:rPr>
              <a:t>Balances, limits, payees, proposals, audit questions, simulations</a:t>
            </a:r>
            <a:endParaRPr lang="en-US" sz="1300" dirty="0"/>
          </a:p>
        </p:txBody>
      </p:sp>
      <p:sp>
        <p:nvSpPr>
          <p:cNvPr id="9" name="tierT1"/>
          <p:cNvSpPr/>
          <p:nvPr/>
        </p:nvSpPr>
        <p:spPr>
          <a:xfrm>
            <a:off x="3364992" y="1691640"/>
            <a:ext cx="2606040" cy="3154680"/>
          </a:xfrm>
          <a:prstGeom prst="roundRect">
            <a:avLst>
              <a:gd name="adj" fmla="val 4211"/>
            </a:avLst>
          </a:prstGeom>
          <a:solidFill>
            <a:srgbClr val="FFFFFF"/>
          </a:solidFill>
          <a:ln w="12700">
            <a:solidFill>
              <a:srgbClr val="E2E8F0"/>
            </a:solidFill>
            <a:prstDash val="solid"/>
          </a:ln>
          <a:effectLst>
            <a:outerShdw sx="100000" sy="100000" kx="0" ky="0" algn="bl" rotWithShape="0" blurRad="76200" dist="25400" dir="5400000">
              <a:srgbClr val="94A3B8">
                <a:alpha val="25000"/>
              </a:srgbClr>
            </a:outerShdw>
          </a:effectLst>
        </p:spPr>
      </p:sp>
      <p:sp>
        <p:nvSpPr>
          <p:cNvPr id="10" name="Shape 8"/>
          <p:cNvSpPr/>
          <p:nvPr/>
        </p:nvSpPr>
        <p:spPr>
          <a:xfrm>
            <a:off x="3593592" y="1874520"/>
            <a:ext cx="640080" cy="640080"/>
          </a:xfrm>
          <a:prstGeom prst="ellipse">
            <a:avLst/>
          </a:prstGeom>
          <a:solidFill>
            <a:srgbClr val="0F766E"/>
          </a:solidFill>
          <a:ln w="12700">
            <a:solidFill>
              <a:srgbClr val="0F766E"/>
            </a:solidFill>
            <a:prstDash val="solid"/>
          </a:ln>
        </p:spPr>
      </p:sp>
      <p:sp>
        <p:nvSpPr>
          <p:cNvPr id="11" name="Text 9"/>
          <p:cNvSpPr txBox="1"/>
          <p:nvPr/>
        </p:nvSpPr>
        <p:spPr>
          <a:xfrm>
            <a:off x="3593592" y="187452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rPr>
              <a:t>T1</a:t>
            </a:r>
            <a:endParaRPr lang="en-US" sz="1600" dirty="0"/>
          </a:p>
        </p:txBody>
      </p:sp>
      <p:sp>
        <p:nvSpPr>
          <p:cNvPr id="12" name="Text 10"/>
          <p:cNvSpPr txBox="1"/>
          <p:nvPr/>
        </p:nvSpPr>
        <p:spPr>
          <a:xfrm>
            <a:off x="3593592" y="2651760"/>
            <a:ext cx="2194560" cy="594360"/>
          </a:xfrm>
          <a:prstGeom prst="rect">
            <a:avLst/>
          </a:prstGeom>
          <a:noFill/>
          <a:ln/>
        </p:spPr>
        <p:txBody>
          <a:bodyPr wrap="square" lIns="0" tIns="0" rIns="0" bIns="0" rtlCol="0" anchor="t"/>
          <a:lstStyle/>
          <a:p>
            <a:pPr indent="0" marL="0">
              <a:buNone/>
            </a:pPr>
            <a:r>
              <a:rPr lang="en-US" sz="1700" b="1" dirty="0">
                <a:solidFill>
                  <a:srgbClr val="0F172A"/>
                </a:solidFill>
              </a:rPr>
              <a:t>Autonomous within limits</a:t>
            </a:r>
            <a:endParaRPr lang="en-US" sz="1700" dirty="0"/>
          </a:p>
        </p:txBody>
      </p:sp>
      <p:sp>
        <p:nvSpPr>
          <p:cNvPr id="13" name="Text 11"/>
          <p:cNvSpPr txBox="1"/>
          <p:nvPr/>
        </p:nvSpPr>
        <p:spPr>
          <a:xfrm>
            <a:off x="3593592" y="3246120"/>
            <a:ext cx="2194560" cy="457200"/>
          </a:xfrm>
          <a:prstGeom prst="rect">
            <a:avLst/>
          </a:prstGeom>
          <a:noFill/>
          <a:ln/>
        </p:spPr>
        <p:txBody>
          <a:bodyPr wrap="square" lIns="0" tIns="0" rIns="0" bIns="0" rtlCol="0" anchor="t"/>
          <a:lstStyle/>
          <a:p>
            <a:pPr indent="0" marL="0">
              <a:buNone/>
            </a:pPr>
            <a:r>
              <a:rPr lang="en-US" sz="1300" i="1" dirty="0">
                <a:solidFill>
                  <a:srgbClr val="0F766E"/>
                </a:solidFill>
              </a:rPr>
              <a:t>Agent key</a:t>
            </a:r>
            <a:endParaRPr lang="en-US" sz="1300" dirty="0"/>
          </a:p>
        </p:txBody>
      </p:sp>
      <p:sp>
        <p:nvSpPr>
          <p:cNvPr id="14" name="Text 12"/>
          <p:cNvSpPr txBox="1"/>
          <p:nvPr/>
        </p:nvSpPr>
        <p:spPr>
          <a:xfrm>
            <a:off x="3593592" y="3703320"/>
            <a:ext cx="2194560" cy="1097280"/>
          </a:xfrm>
          <a:prstGeom prst="rect">
            <a:avLst/>
          </a:prstGeom>
          <a:noFill/>
          <a:ln/>
        </p:spPr>
        <p:txBody>
          <a:bodyPr wrap="square" lIns="0" tIns="0" rIns="0" bIns="0" rtlCol="0" anchor="t"/>
          <a:lstStyle/>
          <a:p>
            <a:pPr indent="0" marL="0">
              <a:buNone/>
            </a:pPr>
            <a:r>
              <a:rPr lang="en-US" sz="1300" dirty="0">
                <a:solidFill>
                  <a:srgbClr val="334155"/>
                </a:solidFill>
              </a:rPr>
              <a:t>Pay allow-listed, cooled-off payees ≤ 1,000 each and ≤ 2,500 per day; treasury moves; pause</a:t>
            </a:r>
            <a:endParaRPr lang="en-US" sz="1300" dirty="0"/>
          </a:p>
        </p:txBody>
      </p:sp>
      <p:sp>
        <p:nvSpPr>
          <p:cNvPr id="15" name="tierT2"/>
          <p:cNvSpPr/>
          <p:nvPr/>
        </p:nvSpPr>
        <p:spPr>
          <a:xfrm>
            <a:off x="6181344" y="1691640"/>
            <a:ext cx="2606040" cy="3154680"/>
          </a:xfrm>
          <a:prstGeom prst="roundRect">
            <a:avLst>
              <a:gd name="adj" fmla="val 4211"/>
            </a:avLst>
          </a:prstGeom>
          <a:solidFill>
            <a:srgbClr val="FFFFFF"/>
          </a:solidFill>
          <a:ln w="12700">
            <a:solidFill>
              <a:srgbClr val="E2E8F0"/>
            </a:solidFill>
            <a:prstDash val="solid"/>
          </a:ln>
          <a:effectLst>
            <a:outerShdw sx="100000" sy="100000" kx="0" ky="0" algn="bl" rotWithShape="0" blurRad="76200" dist="25400" dir="5400000">
              <a:srgbClr val="94A3B8">
                <a:alpha val="25000"/>
              </a:srgbClr>
            </a:outerShdw>
          </a:effectLst>
        </p:spPr>
      </p:sp>
      <p:sp>
        <p:nvSpPr>
          <p:cNvPr id="16" name="Shape 14"/>
          <p:cNvSpPr/>
          <p:nvPr/>
        </p:nvSpPr>
        <p:spPr>
          <a:xfrm>
            <a:off x="6409944" y="1874520"/>
            <a:ext cx="640080" cy="640080"/>
          </a:xfrm>
          <a:prstGeom prst="ellipse">
            <a:avLst/>
          </a:prstGeom>
          <a:solidFill>
            <a:srgbClr val="B45309"/>
          </a:solidFill>
          <a:ln w="12700">
            <a:solidFill>
              <a:srgbClr val="B45309"/>
            </a:solidFill>
            <a:prstDash val="solid"/>
          </a:ln>
        </p:spPr>
      </p:sp>
      <p:sp>
        <p:nvSpPr>
          <p:cNvPr id="17" name="Text 15"/>
          <p:cNvSpPr txBox="1"/>
          <p:nvPr/>
        </p:nvSpPr>
        <p:spPr>
          <a:xfrm>
            <a:off x="6409944" y="187452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rPr>
              <a:t>T2</a:t>
            </a:r>
            <a:endParaRPr lang="en-US" sz="1600" dirty="0"/>
          </a:p>
        </p:txBody>
      </p:sp>
      <p:sp>
        <p:nvSpPr>
          <p:cNvPr id="18" name="Text 16"/>
          <p:cNvSpPr txBox="1"/>
          <p:nvPr/>
        </p:nvSpPr>
        <p:spPr>
          <a:xfrm>
            <a:off x="6409944" y="2651760"/>
            <a:ext cx="2194560" cy="594360"/>
          </a:xfrm>
          <a:prstGeom prst="rect">
            <a:avLst/>
          </a:prstGeom>
          <a:noFill/>
          <a:ln/>
        </p:spPr>
        <p:txBody>
          <a:bodyPr wrap="square" lIns="0" tIns="0" rIns="0" bIns="0" rtlCol="0" anchor="t"/>
          <a:lstStyle/>
          <a:p>
            <a:pPr indent="0" marL="0">
              <a:buNone/>
            </a:pPr>
            <a:r>
              <a:rPr lang="en-US" sz="1700" b="1" dirty="0">
                <a:solidFill>
                  <a:srgbClr val="0F172A"/>
                </a:solidFill>
              </a:rPr>
              <a:t>Maker-checker</a:t>
            </a:r>
            <a:endParaRPr lang="en-US" sz="1700" dirty="0"/>
          </a:p>
        </p:txBody>
      </p:sp>
      <p:sp>
        <p:nvSpPr>
          <p:cNvPr id="19" name="Text 17"/>
          <p:cNvSpPr txBox="1"/>
          <p:nvPr/>
        </p:nvSpPr>
        <p:spPr>
          <a:xfrm>
            <a:off x="6409944" y="3246120"/>
            <a:ext cx="2194560" cy="457200"/>
          </a:xfrm>
          <a:prstGeom prst="rect">
            <a:avLst/>
          </a:prstGeom>
          <a:noFill/>
          <a:ln/>
        </p:spPr>
        <p:txBody>
          <a:bodyPr wrap="square" lIns="0" tIns="0" rIns="0" bIns="0" rtlCol="0" anchor="t"/>
          <a:lstStyle/>
          <a:p>
            <a:pPr indent="0" marL="0">
              <a:buNone/>
            </a:pPr>
            <a:r>
              <a:rPr lang="en-US" sz="1300" i="1" dirty="0">
                <a:solidFill>
                  <a:srgbClr val="B45309"/>
                </a:solidFill>
              </a:rPr>
              <a:t>Agent proposes · owner approves</a:t>
            </a:r>
            <a:endParaRPr lang="en-US" sz="1300" dirty="0"/>
          </a:p>
        </p:txBody>
      </p:sp>
      <p:sp>
        <p:nvSpPr>
          <p:cNvPr id="20" name="Text 18"/>
          <p:cNvSpPr txBox="1"/>
          <p:nvPr/>
        </p:nvSpPr>
        <p:spPr>
          <a:xfrm>
            <a:off x="6409944" y="3703320"/>
            <a:ext cx="2194560" cy="1097280"/>
          </a:xfrm>
          <a:prstGeom prst="rect">
            <a:avLst/>
          </a:prstGeom>
          <a:noFill/>
          <a:ln/>
        </p:spPr>
        <p:txBody>
          <a:bodyPr wrap="square" lIns="0" tIns="0" rIns="0" bIns="0" rtlCol="0" anchor="t"/>
          <a:lstStyle/>
          <a:p>
            <a:pPr indent="0" marL="0">
              <a:buNone/>
            </a:pPr>
            <a:r>
              <a:rPr lang="en-US" sz="1300" dirty="0">
                <a:solidFill>
                  <a:srgbClr val="334155"/>
                </a:solidFill>
              </a:rPr>
              <a:t>Payments up to 10,000, new payees, anything with a HIGH-risk finding</a:t>
            </a:r>
            <a:endParaRPr lang="en-US" sz="1300" dirty="0"/>
          </a:p>
        </p:txBody>
      </p:sp>
      <p:sp>
        <p:nvSpPr>
          <p:cNvPr id="21" name="tierT3"/>
          <p:cNvSpPr/>
          <p:nvPr/>
        </p:nvSpPr>
        <p:spPr>
          <a:xfrm>
            <a:off x="8997696" y="1691640"/>
            <a:ext cx="2606040" cy="3154680"/>
          </a:xfrm>
          <a:prstGeom prst="roundRect">
            <a:avLst>
              <a:gd name="adj" fmla="val 4211"/>
            </a:avLst>
          </a:prstGeom>
          <a:solidFill>
            <a:srgbClr val="FFFFFF"/>
          </a:solidFill>
          <a:ln w="12700">
            <a:solidFill>
              <a:srgbClr val="E2E8F0"/>
            </a:solidFill>
            <a:prstDash val="solid"/>
          </a:ln>
          <a:effectLst>
            <a:outerShdw sx="100000" sy="100000" kx="0" ky="0" algn="bl" rotWithShape="0" blurRad="76200" dist="25400" dir="5400000">
              <a:srgbClr val="94A3B8">
                <a:alpha val="25000"/>
              </a:srgbClr>
            </a:outerShdw>
          </a:effectLst>
        </p:spPr>
      </p:sp>
      <p:sp>
        <p:nvSpPr>
          <p:cNvPr id="22" name="Shape 20"/>
          <p:cNvSpPr/>
          <p:nvPr/>
        </p:nvSpPr>
        <p:spPr>
          <a:xfrm>
            <a:off x="9226296" y="1874520"/>
            <a:ext cx="640080" cy="640080"/>
          </a:xfrm>
          <a:prstGeom prst="ellipse">
            <a:avLst/>
          </a:prstGeom>
          <a:solidFill>
            <a:srgbClr val="B91C1C"/>
          </a:solidFill>
          <a:ln w="12700">
            <a:solidFill>
              <a:srgbClr val="B91C1C"/>
            </a:solidFill>
            <a:prstDash val="solid"/>
          </a:ln>
        </p:spPr>
      </p:sp>
      <p:sp>
        <p:nvSpPr>
          <p:cNvPr id="23" name="Text 21"/>
          <p:cNvSpPr txBox="1"/>
          <p:nvPr/>
        </p:nvSpPr>
        <p:spPr>
          <a:xfrm>
            <a:off x="9226296" y="187452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rPr>
              <a:t>T3</a:t>
            </a:r>
            <a:endParaRPr lang="en-US" sz="1600" dirty="0"/>
          </a:p>
        </p:txBody>
      </p:sp>
      <p:sp>
        <p:nvSpPr>
          <p:cNvPr id="24" name="Text 22"/>
          <p:cNvSpPr txBox="1"/>
          <p:nvPr/>
        </p:nvSpPr>
        <p:spPr>
          <a:xfrm>
            <a:off x="9226296" y="2651760"/>
            <a:ext cx="2194560" cy="594360"/>
          </a:xfrm>
          <a:prstGeom prst="rect">
            <a:avLst/>
          </a:prstGeom>
          <a:noFill/>
          <a:ln/>
        </p:spPr>
        <p:txBody>
          <a:bodyPr wrap="square" lIns="0" tIns="0" rIns="0" bIns="0" rtlCol="0" anchor="t"/>
          <a:lstStyle/>
          <a:p>
            <a:pPr indent="0" marL="0">
              <a:buNone/>
            </a:pPr>
            <a:r>
              <a:rPr lang="en-US" sz="1700" b="1" dirty="0">
                <a:solidFill>
                  <a:srgbClr val="0F172A"/>
                </a:solidFill>
              </a:rPr>
              <a:t>Owner governance</a:t>
            </a:r>
            <a:endParaRPr lang="en-US" sz="1700" dirty="0"/>
          </a:p>
        </p:txBody>
      </p:sp>
      <p:sp>
        <p:nvSpPr>
          <p:cNvPr id="25" name="Text 23"/>
          <p:cNvSpPr txBox="1"/>
          <p:nvPr/>
        </p:nvSpPr>
        <p:spPr>
          <a:xfrm>
            <a:off x="9226296" y="3246120"/>
            <a:ext cx="2194560" cy="457200"/>
          </a:xfrm>
          <a:prstGeom prst="rect">
            <a:avLst/>
          </a:prstGeom>
          <a:noFill/>
          <a:ln/>
        </p:spPr>
        <p:txBody>
          <a:bodyPr wrap="square" lIns="0" tIns="0" rIns="0" bIns="0" rtlCol="0" anchor="t"/>
          <a:lstStyle/>
          <a:p>
            <a:pPr indent="0" marL="0">
              <a:buNone/>
            </a:pPr>
            <a:r>
              <a:rPr lang="en-US" sz="1300" i="1" dirty="0">
                <a:solidFill>
                  <a:srgbClr val="B91C1C"/>
                </a:solidFill>
              </a:rPr>
              <a:t>Owner key (multisig in production)</a:t>
            </a:r>
            <a:endParaRPr lang="en-US" sz="1300" dirty="0"/>
          </a:p>
        </p:txBody>
      </p:sp>
      <p:sp>
        <p:nvSpPr>
          <p:cNvPr id="26" name="Text 24"/>
          <p:cNvSpPr txBox="1"/>
          <p:nvPr/>
        </p:nvSpPr>
        <p:spPr>
          <a:xfrm>
            <a:off x="9226296" y="3703320"/>
            <a:ext cx="2194560" cy="1097280"/>
          </a:xfrm>
          <a:prstGeom prst="rect">
            <a:avLst/>
          </a:prstGeom>
          <a:noFill/>
          <a:ln/>
        </p:spPr>
        <p:txBody>
          <a:bodyPr wrap="square" lIns="0" tIns="0" rIns="0" bIns="0" rtlCol="0" anchor="t"/>
          <a:lstStyle/>
          <a:p>
            <a:pPr indent="0" marL="0">
              <a:buNone/>
            </a:pPr>
            <a:r>
              <a:rPr lang="en-US" sz="1300" dirty="0">
                <a:solidFill>
                  <a:srgbClr val="334155"/>
                </a:solidFill>
              </a:rPr>
              <a:t>Payees, limits (loosening waits 2 days), agent-key rotation, unpause</a:t>
            </a:r>
            <a:endParaRPr lang="en-US" sz="1300" dirty="0"/>
          </a:p>
        </p:txBody>
      </p:sp>
      <p:sp>
        <p:nvSpPr>
          <p:cNvPr id="27" name="worstcase"/>
          <p:cNvSpPr/>
          <p:nvPr/>
        </p:nvSpPr>
        <p:spPr>
          <a:xfrm>
            <a:off x="548640" y="5120640"/>
            <a:ext cx="11064240" cy="1051560"/>
          </a:xfrm>
          <a:prstGeom prst="roundRect">
            <a:avLst>
              <a:gd name="adj" fmla="val 10435"/>
            </a:avLst>
          </a:prstGeom>
          <a:solidFill>
            <a:srgbClr val="F1F5F9"/>
          </a:solidFill>
          <a:ln w="12700">
            <a:solidFill>
              <a:srgbClr val="E2E8F0"/>
            </a:solidFill>
            <a:prstDash val="solid"/>
          </a:ln>
          <a:effectLst>
            <a:outerShdw sx="100000" sy="100000" kx="0" ky="0" algn="bl" rotWithShape="0" blurRad="76200" dist="25400" dir="5400000">
              <a:srgbClr val="94A3B8">
                <a:alpha val="25000"/>
              </a:srgbClr>
            </a:outerShdw>
          </a:effectLst>
        </p:spPr>
      </p:sp>
      <p:sp>
        <p:nvSpPr>
          <p:cNvPr id="28" name="Text 26"/>
          <p:cNvSpPr txBox="1"/>
          <p:nvPr/>
        </p:nvSpPr>
        <p:spPr>
          <a:xfrm>
            <a:off x="822960" y="5257800"/>
            <a:ext cx="10515600" cy="777240"/>
          </a:xfrm>
          <a:prstGeom prst="rect">
            <a:avLst/>
          </a:prstGeom>
          <a:noFill/>
          <a:ln/>
        </p:spPr>
        <p:txBody>
          <a:bodyPr wrap="square" lIns="0" tIns="0" rIns="0" bIns="0" rtlCol="0" anchor="ctr"/>
          <a:lstStyle/>
          <a:p>
            <a:pPr indent="0" marL="0">
              <a:buNone/>
            </a:pPr>
            <a:r>
              <a:rPr lang="en-US" sz="1600" b="1" dirty="0">
                <a:solidFill>
                  <a:srgbClr val="B91C1C"/>
                </a:solidFill>
              </a:rPr>
              <a:t>Worst case with a stolen agent key:  </a:t>
            </a:r>
            <a:pPr indent="0" marL="0">
              <a:buNone/>
            </a:pPr>
            <a:r>
              <a:rPr lang="en-US" sz="1600" dirty="0">
                <a:solidFill>
                  <a:srgbClr val="0F172A"/>
                </a:solidFill>
              </a:rPr>
              <a:t>pay only allow-listed vendors · at most 1,000 per payment · at most 2,500 per day · owner can pause or revoke the key instantly</a:t>
            </a:r>
            <a:endParaRPr lang="en-US" sz="1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75569"/>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1188720"/>
          </a:xfrm>
          <a:prstGeom prst="rect">
            <a:avLst/>
          </a:prstGeom>
          <a:noFill/>
          <a:ln/>
        </p:spPr>
        <p:txBody>
          <a:bodyPr wrap="square" lIns="0" tIns="0" rIns="0" bIns="0" rtlCol="0" anchor="ctr"/>
          <a:lstStyle/>
          <a:p>
            <a:pPr indent="0" marL="0">
              <a:buNone/>
            </a:pPr>
            <a:r>
              <a:rPr lang="en-US" sz="3400" b="1" dirty="0">
                <a:solidFill>
                  <a:schemeClr val="tx1"/>
                </a:solidFill>
              </a:rPr>
              <a:t>KendaliVault: guardrails the AI cannot argue with</a:t>
            </a:r>
            <a:endParaRPr lang="en-US" sz="3400" dirty="0"/>
          </a:p>
        </p:txBody>
      </p:sp>
      <p:sp>
        <p:nvSpPr>
          <p:cNvPr id="3" name="Shape 1"/>
          <p:cNvSpPr/>
          <p:nvPr/>
        </p:nvSpPr>
        <p:spPr>
          <a:xfrm>
            <a:off x="557784" y="1746504"/>
            <a:ext cx="6199632" cy="3904488"/>
          </a:xfrm>
          <a:prstGeom prst="rect">
            <a:avLst/>
          </a:prstGeom>
          <a:solidFill>
            <a:srgbClr val="0F172A"/>
          </a:solidFill>
          <a:ln w="12700">
            <a:solidFill>
              <a:srgbClr val="CBD5E1"/>
            </a:solidFill>
            <a:prstDash val="solid"/>
          </a:ln>
        </p:spPr>
      </p:sp>
      <p:pic>
        <p:nvPicPr>
          <p:cNvPr id="4" name="Image 0" descr="C:\Users\Ari Azis\FinTechathon2026\kendali\docs\img\ui-redteam.jpg">    </p:cNvPr>
          <p:cNvPicPr>
            <a:picLocks noChangeAspect="1"/>
          </p:cNvPicPr>
          <p:nvPr/>
        </p:nvPicPr>
        <p:blipFill>
          <a:blip r:embed="rId1"/>
          <a:stretch>
            <a:fillRect/>
          </a:stretch>
        </p:blipFill>
        <p:spPr>
          <a:xfrm>
            <a:off x="594360" y="1783080"/>
            <a:ext cx="6126480" cy="3831336"/>
          </a:xfrm>
          <a:prstGeom prst="rect">
            <a:avLst/>
          </a:prstGeom>
        </p:spPr>
      </p:pic>
      <p:sp>
        <p:nvSpPr>
          <p:cNvPr id="5" name="Text 2"/>
          <p:cNvSpPr txBox="1"/>
          <p:nvPr/>
        </p:nvSpPr>
        <p:spPr>
          <a:xfrm>
            <a:off x="548640" y="5715000"/>
            <a:ext cx="6217920" cy="365760"/>
          </a:xfrm>
          <a:prstGeom prst="rect">
            <a:avLst/>
          </a:prstGeom>
          <a:noFill/>
          <a:ln/>
        </p:spPr>
        <p:txBody>
          <a:bodyPr wrap="square" lIns="0" tIns="0" rIns="0" bIns="0" rtlCol="0" anchor="t"/>
          <a:lstStyle/>
          <a:p>
            <a:pPr indent="0" marL="0">
              <a:buNone/>
            </a:pPr>
            <a:r>
              <a:rPr lang="en-US" sz="1200" i="1" dirty="0">
                <a:solidFill>
                  <a:srgbClr val="475569"/>
                </a:solidFill>
              </a:rPr>
              <a:t>Live red-team with a stolen agent key: every call rejected by the contract</a:t>
            </a:r>
            <a:endParaRPr lang="en-US" sz="1200" dirty="0"/>
          </a:p>
        </p:txBody>
      </p:sp>
      <p:sp>
        <p:nvSpPr>
          <p:cNvPr id="6" name="Text 3"/>
          <p:cNvSpPr txBox="1"/>
          <p:nvPr/>
        </p:nvSpPr>
        <p:spPr>
          <a:xfrm>
            <a:off x="7086600" y="1737360"/>
            <a:ext cx="4572000" cy="27432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0F172A"/>
                </a:solidFill>
              </a:rPr>
              <a:t>Allow-list with a cooling-off period for new payees</a:t>
            </a:r>
            <a:endParaRPr lang="en-US" sz="1500" dirty="0"/>
          </a:p>
          <a:p>
            <a:pPr marL="342900" indent="-342900">
              <a:spcAft>
                <a:spcPts val="600"/>
              </a:spcAft>
              <a:buSzPct val="100000"/>
              <a:buChar char="•"/>
            </a:pPr>
            <a:r>
              <a:rPr lang="en-US" sz="1500" dirty="0">
                <a:solidFill>
                  <a:srgbClr val="0F172A"/>
                </a:solidFill>
              </a:rPr>
              <a:t>1,000 per payment and 2,500 per day for the agent alone</a:t>
            </a:r>
            <a:endParaRPr lang="en-US" sz="1500" dirty="0"/>
          </a:p>
          <a:p>
            <a:pPr marL="342900" indent="-342900">
              <a:spcAft>
                <a:spcPts val="600"/>
              </a:spcAft>
              <a:buSzPct val="100000"/>
              <a:buChar char="•"/>
            </a:pPr>
            <a:r>
              <a:rPr lang="en-US" sz="1500" dirty="0">
                <a:solidFill>
                  <a:srgbClr val="0F172A"/>
                </a:solidFill>
              </a:rPr>
              <a:t>Proposals up to 10,000; only the owner approves</a:t>
            </a:r>
            <a:endParaRPr lang="en-US" sz="1500" dirty="0"/>
          </a:p>
          <a:p>
            <a:pPr marL="342900" indent="-342900">
              <a:spcAft>
                <a:spcPts val="600"/>
              </a:spcAft>
              <a:buSzPct val="100000"/>
              <a:buChar char="•"/>
            </a:pPr>
            <a:r>
              <a:rPr lang="en-US" sz="1500" dirty="0">
                <a:solidFill>
                  <a:srgbClr val="0F172A"/>
                </a:solidFill>
              </a:rPr>
              <a:t>Loosening limits waits 2 days; tightening is instant</a:t>
            </a:r>
            <a:endParaRPr lang="en-US" sz="1500" dirty="0"/>
          </a:p>
          <a:p>
            <a:pPr marL="342900" indent="-342900">
              <a:spcAft>
                <a:spcPts val="600"/>
              </a:spcAft>
              <a:buSzPct val="100000"/>
              <a:buChar char="•"/>
            </a:pPr>
            <a:r>
              <a:rPr lang="en-US" sz="1500" dirty="0">
                <a:solidFill>
                  <a:srgbClr val="0F172A"/>
                </a:solidFill>
              </a:rPr>
              <a:t>Circuit breaker: agent can pause, only the owner resumes</a:t>
            </a:r>
            <a:endParaRPr lang="en-US" sz="1500" dirty="0"/>
          </a:p>
          <a:p>
            <a:pPr marL="342900" indent="-342900">
              <a:spcAft>
                <a:spcPts val="600"/>
              </a:spcAft>
              <a:buSzPct val="100000"/>
              <a:buChar char="•"/>
            </a:pPr>
            <a:r>
              <a:rPr lang="en-US" sz="1500" dirty="0">
                <a:solidFill>
                  <a:srgbClr val="0F172A"/>
                </a:solidFill>
              </a:rPr>
              <a:t>Every action carries the hash of its decision</a:t>
            </a:r>
            <a:endParaRPr lang="en-US" sz="1500" dirty="0"/>
          </a:p>
        </p:txBody>
      </p:sp>
      <p:sp>
        <p:nvSpPr>
          <p:cNvPr id="7" name="invariants"/>
          <p:cNvSpPr/>
          <p:nvPr/>
        </p:nvSpPr>
        <p:spPr>
          <a:xfrm>
            <a:off x="7086600" y="4617720"/>
            <a:ext cx="4526280" cy="1463040"/>
          </a:xfrm>
          <a:prstGeom prst="roundRect">
            <a:avLst>
              <a:gd name="adj" fmla="val 7500"/>
            </a:avLst>
          </a:prstGeom>
          <a:solidFill>
            <a:srgbClr val="F1F5F9"/>
          </a:solidFill>
          <a:ln w="12700">
            <a:solidFill>
              <a:srgbClr val="E2E8F0"/>
            </a:solidFill>
            <a:prstDash val="solid"/>
          </a:ln>
          <a:effectLst>
            <a:outerShdw sx="100000" sy="100000" kx="0" ky="0" algn="bl" rotWithShape="0" blurRad="76200" dist="25400" dir="5400000">
              <a:srgbClr val="94A3B8">
                <a:alpha val="25000"/>
              </a:srgbClr>
            </a:outerShdw>
          </a:effectLst>
        </p:spPr>
      </p:sp>
      <p:sp>
        <p:nvSpPr>
          <p:cNvPr id="8" name="Text 5"/>
          <p:cNvSpPr txBox="1"/>
          <p:nvPr/>
        </p:nvSpPr>
        <p:spPr>
          <a:xfrm>
            <a:off x="7269480" y="4754880"/>
            <a:ext cx="4206240" cy="1188720"/>
          </a:xfrm>
          <a:prstGeom prst="rect">
            <a:avLst/>
          </a:prstGeom>
          <a:noFill/>
          <a:ln/>
        </p:spPr>
        <p:txBody>
          <a:bodyPr wrap="square" lIns="0" tIns="0" rIns="0" bIns="0" rtlCol="0" anchor="t"/>
          <a:lstStyle/>
          <a:p>
            <a:pPr indent="0" marL="0">
              <a:buNone/>
            </a:pPr>
            <a:r>
              <a:rPr lang="en-US" sz="1300" b="1" dirty="0">
                <a:solidFill>
                  <a:srgbClr val="0F766E"/>
                </a:solidFill>
              </a:rPr>
              <a:t>Proven by stateful fuzzing (8,192 random calls per run)</a:t>
            </a:r>
            <a:endParaRPr lang="en-US" sz="1300" dirty="0"/>
          </a:p>
          <a:p>
            <a:pPr indent="0" marL="0">
              <a:buNone/>
            </a:pPr>
            <a:r>
              <a:rPr lang="en-US" sz="1300" dirty="0">
                <a:solidFill>
                  <a:srgbClr val="334155"/>
                </a:solidFill>
              </a:rPr>
              <a:t>attacker never paid · daily outflow ≤ limit · governance unchanged · custody conserved</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75569"/>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1188720"/>
          </a:xfrm>
          <a:prstGeom prst="rect">
            <a:avLst/>
          </a:prstGeom>
          <a:noFill/>
          <a:ln/>
        </p:spPr>
        <p:txBody>
          <a:bodyPr wrap="square" lIns="0" tIns="0" rIns="0" bIns="0" rtlCol="0" anchor="ctr"/>
          <a:lstStyle/>
          <a:p>
            <a:pPr indent="0" marL="0">
              <a:buNone/>
            </a:pPr>
            <a:r>
              <a:rPr lang="en-US" sz="3400" b="1" dirty="0">
                <a:solidFill>
                  <a:schemeClr val="tx1"/>
                </a:solidFill>
              </a:rPr>
              <a:t>Measured, not claimed: 42 of 42 scenarios pass</a:t>
            </a:r>
            <a:endParaRPr lang="en-US" sz="3400" dirty="0"/>
          </a:p>
        </p:txBody>
      </p:sp>
      <p:sp>
        <p:nvSpPr>
          <p:cNvPr id="3" name="stat0"/>
          <p:cNvSpPr/>
          <p:nvPr/>
        </p:nvSpPr>
        <p:spPr>
          <a:xfrm>
            <a:off x="548640" y="1691640"/>
            <a:ext cx="3520440" cy="1828800"/>
          </a:xfrm>
          <a:prstGeom prst="roundRect">
            <a:avLst>
              <a:gd name="adj" fmla="val 6000"/>
            </a:avLst>
          </a:prstGeom>
          <a:solidFill>
            <a:srgbClr val="FFFFFF"/>
          </a:solidFill>
          <a:ln w="12700">
            <a:solidFill>
              <a:srgbClr val="E2E8F0"/>
            </a:solidFill>
            <a:prstDash val="solid"/>
          </a:ln>
          <a:effectLst>
            <a:outerShdw sx="100000" sy="100000" kx="0" ky="0" algn="bl" rotWithShape="0" blurRad="76200" dist="25400" dir="5400000">
              <a:srgbClr val="94A3B8">
                <a:alpha val="25000"/>
              </a:srgbClr>
            </a:outerShdw>
          </a:effectLst>
        </p:spPr>
      </p:sp>
      <p:sp>
        <p:nvSpPr>
          <p:cNvPr id="4" name="Text 2"/>
          <p:cNvSpPr txBox="1"/>
          <p:nvPr/>
        </p:nvSpPr>
        <p:spPr>
          <a:xfrm>
            <a:off x="822960" y="1783080"/>
            <a:ext cx="3017520" cy="868680"/>
          </a:xfrm>
          <a:prstGeom prst="rect">
            <a:avLst/>
          </a:prstGeom>
          <a:noFill/>
          <a:ln/>
        </p:spPr>
        <p:txBody>
          <a:bodyPr wrap="square" lIns="0" tIns="0" rIns="0" bIns="0" rtlCol="0" anchor="t"/>
          <a:lstStyle/>
          <a:p>
            <a:pPr indent="0" marL="0">
              <a:buNone/>
            </a:pPr>
            <a:r>
              <a:rPr lang="en-US" sz="5200" b="1" dirty="0">
                <a:solidFill>
                  <a:srgbClr val="0F766E"/>
                </a:solidFill>
              </a:rPr>
              <a:t>100%</a:t>
            </a:r>
            <a:endParaRPr lang="en-US" sz="5200" dirty="0"/>
          </a:p>
        </p:txBody>
      </p:sp>
      <p:sp>
        <p:nvSpPr>
          <p:cNvPr id="5" name="Text 3"/>
          <p:cNvSpPr txBox="1"/>
          <p:nvPr/>
        </p:nvSpPr>
        <p:spPr>
          <a:xfrm>
            <a:off x="822960" y="2633472"/>
            <a:ext cx="3017520" cy="320040"/>
          </a:xfrm>
          <a:prstGeom prst="rect">
            <a:avLst/>
          </a:prstGeom>
          <a:noFill/>
          <a:ln/>
        </p:spPr>
        <p:txBody>
          <a:bodyPr wrap="square" lIns="0" tIns="0" rIns="0" bIns="0" rtlCol="0" anchor="t"/>
          <a:lstStyle/>
          <a:p>
            <a:pPr indent="0" marL="0">
              <a:buNone/>
            </a:pPr>
            <a:r>
              <a:rPr lang="en-US" sz="1600" b="1" dirty="0">
                <a:solidFill>
                  <a:srgbClr val="0F172A"/>
                </a:solidFill>
              </a:rPr>
              <a:t>task completion</a:t>
            </a:r>
            <a:endParaRPr lang="en-US" sz="1600" dirty="0"/>
          </a:p>
        </p:txBody>
      </p:sp>
      <p:sp>
        <p:nvSpPr>
          <p:cNvPr id="6" name="Text 4"/>
          <p:cNvSpPr txBox="1"/>
          <p:nvPr/>
        </p:nvSpPr>
        <p:spPr>
          <a:xfrm>
            <a:off x="822960" y="2953512"/>
            <a:ext cx="3017520" cy="457200"/>
          </a:xfrm>
          <a:prstGeom prst="rect">
            <a:avLst/>
          </a:prstGeom>
          <a:noFill/>
          <a:ln/>
        </p:spPr>
        <p:txBody>
          <a:bodyPr wrap="square" lIns="0" tIns="0" rIns="0" bIns="0" rtlCol="0" anchor="t"/>
          <a:lstStyle/>
          <a:p>
            <a:pPr indent="0" marL="0">
              <a:buNone/>
            </a:pPr>
            <a:r>
              <a:rPr lang="en-US" sz="1300" dirty="0">
                <a:solidFill>
                  <a:srgbClr val="475569"/>
                </a:solidFill>
              </a:rPr>
              <a:t>19 of 19 legitimate tasks done end-to-end</a:t>
            </a:r>
            <a:endParaRPr lang="en-US" sz="1300" dirty="0"/>
          </a:p>
        </p:txBody>
      </p:sp>
      <p:sp>
        <p:nvSpPr>
          <p:cNvPr id="7" name="stat1"/>
          <p:cNvSpPr/>
          <p:nvPr/>
        </p:nvSpPr>
        <p:spPr>
          <a:xfrm>
            <a:off x="4297680" y="1691640"/>
            <a:ext cx="3520440" cy="1828800"/>
          </a:xfrm>
          <a:prstGeom prst="roundRect">
            <a:avLst>
              <a:gd name="adj" fmla="val 6000"/>
            </a:avLst>
          </a:prstGeom>
          <a:solidFill>
            <a:srgbClr val="FFFFFF"/>
          </a:solidFill>
          <a:ln w="12700">
            <a:solidFill>
              <a:srgbClr val="E2E8F0"/>
            </a:solidFill>
            <a:prstDash val="solid"/>
          </a:ln>
          <a:effectLst>
            <a:outerShdw sx="100000" sy="100000" kx="0" ky="0" algn="bl" rotWithShape="0" blurRad="76200" dist="25400" dir="5400000">
              <a:srgbClr val="94A3B8">
                <a:alpha val="25000"/>
              </a:srgbClr>
            </a:outerShdw>
          </a:effectLst>
        </p:spPr>
      </p:sp>
      <p:sp>
        <p:nvSpPr>
          <p:cNvPr id="8" name="Text 6"/>
          <p:cNvSpPr txBox="1"/>
          <p:nvPr/>
        </p:nvSpPr>
        <p:spPr>
          <a:xfrm>
            <a:off x="4572000" y="1783080"/>
            <a:ext cx="3017520" cy="868680"/>
          </a:xfrm>
          <a:prstGeom prst="rect">
            <a:avLst/>
          </a:prstGeom>
          <a:noFill/>
          <a:ln/>
        </p:spPr>
        <p:txBody>
          <a:bodyPr wrap="square" lIns="0" tIns="0" rIns="0" bIns="0" rtlCol="0" anchor="t"/>
          <a:lstStyle/>
          <a:p>
            <a:pPr indent="0" marL="0">
              <a:buNone/>
            </a:pPr>
            <a:r>
              <a:rPr lang="en-US" sz="5200" b="1" dirty="0">
                <a:solidFill>
                  <a:srgbClr val="B91C1C"/>
                </a:solidFill>
              </a:rPr>
              <a:t>100%</a:t>
            </a:r>
            <a:endParaRPr lang="en-US" sz="5200" dirty="0"/>
          </a:p>
        </p:txBody>
      </p:sp>
      <p:sp>
        <p:nvSpPr>
          <p:cNvPr id="9" name="Text 7"/>
          <p:cNvSpPr txBox="1"/>
          <p:nvPr/>
        </p:nvSpPr>
        <p:spPr>
          <a:xfrm>
            <a:off x="4572000" y="2633472"/>
            <a:ext cx="3017520" cy="320040"/>
          </a:xfrm>
          <a:prstGeom prst="rect">
            <a:avLst/>
          </a:prstGeom>
          <a:noFill/>
          <a:ln/>
        </p:spPr>
        <p:txBody>
          <a:bodyPr wrap="square" lIns="0" tIns="0" rIns="0" bIns="0" rtlCol="0" anchor="t"/>
          <a:lstStyle/>
          <a:p>
            <a:pPr indent="0" marL="0">
              <a:buNone/>
            </a:pPr>
            <a:r>
              <a:rPr lang="en-US" sz="1600" b="1" dirty="0">
                <a:solidFill>
                  <a:srgbClr val="0F172A"/>
                </a:solidFill>
              </a:rPr>
              <a:t>attack prevention</a:t>
            </a:r>
            <a:endParaRPr lang="en-US" sz="1600" dirty="0"/>
          </a:p>
        </p:txBody>
      </p:sp>
      <p:sp>
        <p:nvSpPr>
          <p:cNvPr id="10" name="Text 8"/>
          <p:cNvSpPr txBox="1"/>
          <p:nvPr/>
        </p:nvSpPr>
        <p:spPr>
          <a:xfrm>
            <a:off x="4572000" y="2953512"/>
            <a:ext cx="3017520" cy="457200"/>
          </a:xfrm>
          <a:prstGeom prst="rect">
            <a:avLst/>
          </a:prstGeom>
          <a:noFill/>
          <a:ln/>
        </p:spPr>
        <p:txBody>
          <a:bodyPr wrap="square" lIns="0" tIns="0" rIns="0" bIns="0" rtlCol="0" anchor="t"/>
          <a:lstStyle/>
          <a:p>
            <a:pPr indent="0" marL="0">
              <a:buNone/>
            </a:pPr>
            <a:r>
              <a:rPr lang="en-US" sz="1300" dirty="0">
                <a:solidFill>
                  <a:srgbClr val="475569"/>
                </a:solidFill>
              </a:rPr>
              <a:t>23 of 23 attacks stopped or safely routed</a:t>
            </a:r>
            <a:endParaRPr lang="en-US" sz="1300" dirty="0"/>
          </a:p>
        </p:txBody>
      </p:sp>
      <p:sp>
        <p:nvSpPr>
          <p:cNvPr id="11" name="stat2"/>
          <p:cNvSpPr/>
          <p:nvPr/>
        </p:nvSpPr>
        <p:spPr>
          <a:xfrm>
            <a:off x="8046720" y="1691640"/>
            <a:ext cx="3520440" cy="1828800"/>
          </a:xfrm>
          <a:prstGeom prst="roundRect">
            <a:avLst>
              <a:gd name="adj" fmla="val 6000"/>
            </a:avLst>
          </a:prstGeom>
          <a:solidFill>
            <a:srgbClr val="FFFFFF"/>
          </a:solidFill>
          <a:ln w="12700">
            <a:solidFill>
              <a:srgbClr val="E2E8F0"/>
            </a:solidFill>
            <a:prstDash val="solid"/>
          </a:ln>
          <a:effectLst>
            <a:outerShdw sx="100000" sy="100000" kx="0" ky="0" algn="bl" rotWithShape="0" blurRad="76200" dist="25400" dir="5400000">
              <a:srgbClr val="94A3B8">
                <a:alpha val="25000"/>
              </a:srgbClr>
            </a:outerShdw>
          </a:effectLst>
        </p:spPr>
      </p:sp>
      <p:sp>
        <p:nvSpPr>
          <p:cNvPr id="12" name="Text 10"/>
          <p:cNvSpPr txBox="1"/>
          <p:nvPr/>
        </p:nvSpPr>
        <p:spPr>
          <a:xfrm>
            <a:off x="8321040" y="1783080"/>
            <a:ext cx="3017520" cy="868680"/>
          </a:xfrm>
          <a:prstGeom prst="rect">
            <a:avLst/>
          </a:prstGeom>
          <a:noFill/>
          <a:ln/>
        </p:spPr>
        <p:txBody>
          <a:bodyPr wrap="square" lIns="0" tIns="0" rIns="0" bIns="0" rtlCol="0" anchor="t"/>
          <a:lstStyle/>
          <a:p>
            <a:pPr indent="0" marL="0">
              <a:buNone/>
            </a:pPr>
            <a:r>
              <a:rPr lang="en-US" sz="5200" b="1" dirty="0">
                <a:solidFill>
                  <a:srgbClr val="0F172A"/>
                </a:solidFill>
              </a:rPr>
              <a:t>0</a:t>
            </a:r>
            <a:endParaRPr lang="en-US" sz="5200" dirty="0"/>
          </a:p>
        </p:txBody>
      </p:sp>
      <p:sp>
        <p:nvSpPr>
          <p:cNvPr id="13" name="Text 11"/>
          <p:cNvSpPr txBox="1"/>
          <p:nvPr/>
        </p:nvSpPr>
        <p:spPr>
          <a:xfrm>
            <a:off x="8321040" y="2633472"/>
            <a:ext cx="3017520" cy="320040"/>
          </a:xfrm>
          <a:prstGeom prst="rect">
            <a:avLst/>
          </a:prstGeom>
          <a:noFill/>
          <a:ln/>
        </p:spPr>
        <p:txBody>
          <a:bodyPr wrap="square" lIns="0" tIns="0" rIns="0" bIns="0" rtlCol="0" anchor="t"/>
          <a:lstStyle/>
          <a:p>
            <a:pPr indent="0" marL="0">
              <a:buNone/>
            </a:pPr>
            <a:r>
              <a:rPr lang="en-US" sz="1600" b="1" dirty="0">
                <a:solidFill>
                  <a:srgbClr val="0F172A"/>
                </a:solidFill>
              </a:rPr>
              <a:t>tUSDC to attackers</a:t>
            </a:r>
            <a:endParaRPr lang="en-US" sz="1600" dirty="0"/>
          </a:p>
        </p:txBody>
      </p:sp>
      <p:sp>
        <p:nvSpPr>
          <p:cNvPr id="14" name="Text 12"/>
          <p:cNvSpPr txBox="1"/>
          <p:nvPr/>
        </p:nvSpPr>
        <p:spPr>
          <a:xfrm>
            <a:off x="8321040" y="2953512"/>
            <a:ext cx="3017520" cy="457200"/>
          </a:xfrm>
          <a:prstGeom prst="rect">
            <a:avLst/>
          </a:prstGeom>
          <a:noFill/>
          <a:ln/>
        </p:spPr>
        <p:txBody>
          <a:bodyPr wrap="square" lIns="0" tIns="0" rIns="0" bIns="0" rtlCol="0" anchor="t"/>
          <a:lstStyle/>
          <a:p>
            <a:pPr indent="0" marL="0">
              <a:buNone/>
            </a:pPr>
            <a:r>
              <a:rPr lang="en-US" sz="1300" dirty="0">
                <a:solidFill>
                  <a:srgbClr val="475569"/>
                </a:solidFill>
              </a:rPr>
              <a:t>in every scenario, including a stolen key</a:t>
            </a:r>
            <a:endParaRPr lang="en-US" sz="1300" dirty="0"/>
          </a:p>
        </p:txBody>
      </p:sp>
      <p:graphicFrame>
        <p:nvGraphicFramePr>
          <p:cNvPr id="15" name="Chart 0" descr=""/>
          <p:cNvGraphicFramePr/>
          <p:nvPr/>
        </p:nvGraphicFramePr>
        <p:xfrm>
          <a:off x="548640" y="3749040"/>
          <a:ext cx="6035040" cy="2468880"/>
        </p:xfrm>
        <a:graphic xmlns:a="http://schemas.openxmlformats.org/drawingml/2006/main">
          <a:graphicData uri="http://schemas.openxmlformats.org/drawingml/2006/chart">
            <c:chart xmlns:c="http://schemas.openxmlformats.org/drawingml/2006/chart" r:id="rId1"/>
          </a:graphicData>
        </a:graphic>
      </p:graphicFrame>
      <p:sp>
        <p:nvSpPr>
          <p:cNvPr id="16" name="repro"/>
          <p:cNvSpPr/>
          <p:nvPr/>
        </p:nvSpPr>
        <p:spPr>
          <a:xfrm>
            <a:off x="6949440" y="3749040"/>
            <a:ext cx="4663440" cy="2468880"/>
          </a:xfrm>
          <a:prstGeom prst="roundRect">
            <a:avLst>
              <a:gd name="adj" fmla="val 4444"/>
            </a:avLst>
          </a:prstGeom>
          <a:solidFill>
            <a:srgbClr val="F1F5F9"/>
          </a:solidFill>
          <a:ln w="12700">
            <a:solidFill>
              <a:srgbClr val="E2E8F0"/>
            </a:solidFill>
            <a:prstDash val="solid"/>
          </a:ln>
          <a:effectLst>
            <a:outerShdw sx="100000" sy="100000" kx="0" ky="0" algn="bl" rotWithShape="0" blurRad="76200" dist="25400" dir="5400000">
              <a:srgbClr val="94A3B8">
                <a:alpha val="25000"/>
              </a:srgbClr>
            </a:outerShdw>
          </a:effectLst>
        </p:spPr>
      </p:sp>
      <p:sp>
        <p:nvSpPr>
          <p:cNvPr id="17" name="Text 14"/>
          <p:cNvSpPr txBox="1"/>
          <p:nvPr/>
        </p:nvSpPr>
        <p:spPr>
          <a:xfrm>
            <a:off x="7178040" y="3931920"/>
            <a:ext cx="4206240" cy="2148840"/>
          </a:xfrm>
          <a:prstGeom prst="rect">
            <a:avLst/>
          </a:prstGeom>
          <a:noFill/>
          <a:ln/>
        </p:spPr>
        <p:txBody>
          <a:bodyPr wrap="square" lIns="0" tIns="0" rIns="0" bIns="0" rtlCol="0" anchor="t"/>
          <a:lstStyle/>
          <a:p>
            <a:pPr indent="0" marL="0">
              <a:spcAft>
                <a:spcPts val="800"/>
              </a:spcAft>
              <a:buNone/>
            </a:pPr>
            <a:r>
              <a:rPr lang="en-US" sz="1600" b="1" dirty="0">
                <a:solidFill>
                  <a:srgbClr val="0F172A"/>
                </a:solidFill>
              </a:rPr>
              <a:t>Reproducible by the judges</a:t>
            </a:r>
            <a:endParaRPr lang="en-US" sz="1600" dirty="0"/>
          </a:p>
          <a:p>
            <a:pPr indent="0" marL="0">
              <a:spcAft>
                <a:spcPts val="800"/>
              </a:spcAft>
              <a:buNone/>
            </a:pPr>
            <a:r>
              <a:rPr lang="en-US" sz="1200" dirty="0">
                <a:solidFill>
                  <a:srgbClr val="0F766E"/>
                </a:solidFill>
                <a:latin typeface="Courier New" pitchFamily="34" charset="0"/>
                <a:ea typeface="Courier New" pitchFamily="34" charset="-122"/>
                <a:cs typeface="Courier New" pitchFamily="34" charset="-120"/>
              </a:rPr>
              <a:t>python eval/run_eval.py   ·   pytest   ·   forge test</a:t>
            </a:r>
            <a:endParaRPr lang="en-US" sz="1600" dirty="0"/>
          </a:p>
          <a:p>
            <a:pPr indent="0" marL="0">
              <a:spcAft>
                <a:spcPts val="800"/>
              </a:spcAft>
              <a:buNone/>
            </a:pPr>
            <a:r>
              <a:rPr lang="en-US" sz="1300" dirty="0">
                <a:solidFill>
                  <a:srgbClr val="334155"/>
                </a:solidFill>
              </a:rPr>
              <a:t>Each scenario runs on a fresh EVM snapshot: 91 real transactions in 23 seconds, no API key needed. Public-testnet hashes in reports/TESTNET_EVIDENCE.md.</a:t>
            </a:r>
            <a:endParaRPr lang="en-US" sz="1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75569"/>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1188720"/>
          </a:xfrm>
          <a:prstGeom prst="rect">
            <a:avLst/>
          </a:prstGeom>
          <a:noFill/>
          <a:ln/>
        </p:spPr>
        <p:txBody>
          <a:bodyPr wrap="square" lIns="0" tIns="0" rIns="0" bIns="0" rtlCol="0" anchor="ctr"/>
          <a:lstStyle/>
          <a:p>
            <a:pPr indent="0" marL="0">
              <a:buNone/>
            </a:pPr>
            <a:r>
              <a:rPr lang="en-US" sz="3400" b="1" dirty="0">
                <a:solidFill>
                  <a:schemeClr val="tx1"/>
                </a:solidFill>
              </a:rPr>
              <a:t>Bank-grade controls, verifiable on-chain</a:t>
            </a:r>
            <a:endParaRPr lang="en-US" sz="3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6675120" cy="914400"/>
        </p:xfrm>
        <a:graphic>
          <a:graphicData uri="http://schemas.openxmlformats.org/drawingml/2006/table">
            <a:tbl>
              <a:tblPr/>
              <a:tblGrid>
                <a:gridCol w="2651760"/>
                <a:gridCol w="4023360"/>
              </a:tblGrid>
              <a:tr h="47548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Control objective</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Kendali implementation</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r>
              <a:tr h="475488">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Four-eyes / maker-checker</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propose() by agent · approveProposal() by owner only</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Segregation of duties</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separate agent, owner and deployer keys</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Beneficiary verification (anti-BEC)</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payee bound to KYB record; changed details → block + call-back</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New-beneficiary cooling-off</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payeeCooldown enforced on-chain</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Sanctions / AML screening</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every address screened at payment time</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Limits and change management</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per-payment, daily and hard caps; time-locked loosening</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Kill switch</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pause by agent or owner; only the owner resumes</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Explainability and record keeping</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reason codes + EN/ID explanation, hashed and anchored</a:t>
                      </a:r>
                      <a:endParaRPr lang="en-US" sz="13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bl>
          </a:graphicData>
        </a:graphic>
      </p:graphicFrame>
      <p:sp>
        <p:nvSpPr>
          <p:cNvPr id="4" name="Shape 1"/>
          <p:cNvSpPr/>
          <p:nvPr/>
        </p:nvSpPr>
        <p:spPr>
          <a:xfrm>
            <a:off x="7680960" y="1691640"/>
            <a:ext cx="3931920" cy="868680"/>
          </a:xfrm>
          <a:prstGeom prst="roundRect">
            <a:avLst>
              <a:gd name="adj" fmla="val 10526"/>
            </a:avLst>
          </a:prstGeom>
          <a:solidFill>
            <a:srgbClr val="1D4ED8"/>
          </a:solidFill>
          <a:ln w="12700">
            <a:solidFill>
              <a:srgbClr val="1D4ED8"/>
            </a:solidFill>
            <a:prstDash val="solid"/>
          </a:ln>
        </p:spPr>
      </p:sp>
      <p:sp>
        <p:nvSpPr>
          <p:cNvPr id="5" name="Text 2"/>
          <p:cNvSpPr txBox="1"/>
          <p:nvPr/>
        </p:nvSpPr>
        <p:spPr>
          <a:xfrm>
            <a:off x="7863840" y="1783080"/>
            <a:ext cx="3566160" cy="713232"/>
          </a:xfrm>
          <a:prstGeom prst="rect">
            <a:avLst/>
          </a:prstGeom>
          <a:noFill/>
          <a:ln/>
        </p:spPr>
        <p:txBody>
          <a:bodyPr wrap="square" lIns="0" tIns="0" rIns="0" bIns="0" rtlCol="0" anchor="ctr"/>
          <a:lstStyle/>
          <a:p>
            <a:pPr indent="0" marL="0">
              <a:buNone/>
            </a:pPr>
            <a:r>
              <a:rPr lang="en-US" sz="1500" b="1" dirty="0">
                <a:solidFill>
                  <a:srgbClr val="FFFFFF"/>
                </a:solidFill>
              </a:rPr>
              <a:t>Decision record</a:t>
            </a:r>
            <a:endParaRPr lang="en-US" sz="1500" dirty="0"/>
          </a:p>
          <a:p>
            <a:pPr indent="0" marL="0">
              <a:buNone/>
            </a:pPr>
            <a:r>
              <a:rPr lang="en-US" sz="1200" dirty="0">
                <a:solidFill>
                  <a:srgbClr val="E2E8F0"/>
                </a:solidFill>
              </a:rPr>
              <a:t>findings · action · amount · explanation</a:t>
            </a:r>
            <a:endParaRPr lang="en-US" sz="1500" dirty="0"/>
          </a:p>
        </p:txBody>
      </p:sp>
      <p:sp>
        <p:nvSpPr>
          <p:cNvPr id="6" name="Shape 3"/>
          <p:cNvSpPr/>
          <p:nvPr/>
        </p:nvSpPr>
        <p:spPr>
          <a:xfrm>
            <a:off x="9509760" y="2578608"/>
            <a:ext cx="274320" cy="210312"/>
          </a:xfrm>
          <a:prstGeom prst="downArrow">
            <a:avLst/>
          </a:prstGeom>
          <a:solidFill>
            <a:srgbClr val="94A3B8"/>
          </a:solidFill>
          <a:ln w="12700">
            <a:solidFill>
              <a:srgbClr val="94A3B8"/>
            </a:solidFill>
            <a:prstDash val="solid"/>
          </a:ln>
        </p:spPr>
      </p:sp>
      <p:sp>
        <p:nvSpPr>
          <p:cNvPr id="7" name="Shape 4"/>
          <p:cNvSpPr/>
          <p:nvPr/>
        </p:nvSpPr>
        <p:spPr>
          <a:xfrm>
            <a:off x="7680960" y="2807208"/>
            <a:ext cx="3931920" cy="868680"/>
          </a:xfrm>
          <a:prstGeom prst="roundRect">
            <a:avLst>
              <a:gd name="adj" fmla="val 10526"/>
            </a:avLst>
          </a:prstGeom>
          <a:solidFill>
            <a:srgbClr val="B45309"/>
          </a:solidFill>
          <a:ln w="12700">
            <a:solidFill>
              <a:srgbClr val="B45309"/>
            </a:solidFill>
            <a:prstDash val="solid"/>
          </a:ln>
        </p:spPr>
      </p:sp>
      <p:sp>
        <p:nvSpPr>
          <p:cNvPr id="8" name="Text 5"/>
          <p:cNvSpPr txBox="1"/>
          <p:nvPr/>
        </p:nvSpPr>
        <p:spPr>
          <a:xfrm>
            <a:off x="7863840" y="2898648"/>
            <a:ext cx="3566160" cy="713232"/>
          </a:xfrm>
          <a:prstGeom prst="rect">
            <a:avLst/>
          </a:prstGeom>
          <a:noFill/>
          <a:ln/>
        </p:spPr>
        <p:txBody>
          <a:bodyPr wrap="square" lIns="0" tIns="0" rIns="0" bIns="0" rtlCol="0" anchor="ctr"/>
          <a:lstStyle/>
          <a:p>
            <a:pPr indent="0" marL="0">
              <a:buNone/>
            </a:pPr>
            <a:r>
              <a:rPr lang="en-US" sz="1500" b="1" dirty="0">
                <a:solidFill>
                  <a:srgbClr val="FFFFFF"/>
                </a:solidFill>
              </a:rPr>
              <a:t>keccak256 → decisionHash</a:t>
            </a:r>
            <a:endParaRPr lang="en-US" sz="1500" dirty="0"/>
          </a:p>
          <a:p>
            <a:pPr indent="0" marL="0">
              <a:buNone/>
            </a:pPr>
            <a:r>
              <a:rPr lang="en-US" sz="1200" dirty="0">
                <a:solidFill>
                  <a:srgbClr val="E2E8F0"/>
                </a:solidFill>
              </a:rPr>
              <a:t>computed before anything is signed</a:t>
            </a:r>
            <a:endParaRPr lang="en-US" sz="1500" dirty="0"/>
          </a:p>
        </p:txBody>
      </p:sp>
      <p:sp>
        <p:nvSpPr>
          <p:cNvPr id="9" name="Shape 6"/>
          <p:cNvSpPr/>
          <p:nvPr/>
        </p:nvSpPr>
        <p:spPr>
          <a:xfrm>
            <a:off x="9509760" y="3694176"/>
            <a:ext cx="274320" cy="210312"/>
          </a:xfrm>
          <a:prstGeom prst="downArrow">
            <a:avLst/>
          </a:prstGeom>
          <a:solidFill>
            <a:srgbClr val="94A3B8"/>
          </a:solidFill>
          <a:ln w="12700">
            <a:solidFill>
              <a:srgbClr val="94A3B8"/>
            </a:solidFill>
            <a:prstDash val="solid"/>
          </a:ln>
        </p:spPr>
      </p:sp>
      <p:sp>
        <p:nvSpPr>
          <p:cNvPr id="10" name="Shape 7"/>
          <p:cNvSpPr/>
          <p:nvPr/>
        </p:nvSpPr>
        <p:spPr>
          <a:xfrm>
            <a:off x="7680960" y="3922776"/>
            <a:ext cx="3931920" cy="868680"/>
          </a:xfrm>
          <a:prstGeom prst="roundRect">
            <a:avLst>
              <a:gd name="adj" fmla="val 10526"/>
            </a:avLst>
          </a:prstGeom>
          <a:solidFill>
            <a:srgbClr val="0F766E"/>
          </a:solidFill>
          <a:ln w="12700">
            <a:solidFill>
              <a:srgbClr val="0F766E"/>
            </a:solidFill>
            <a:prstDash val="solid"/>
          </a:ln>
        </p:spPr>
      </p:sp>
      <p:sp>
        <p:nvSpPr>
          <p:cNvPr id="11" name="Text 8"/>
          <p:cNvSpPr txBox="1"/>
          <p:nvPr/>
        </p:nvSpPr>
        <p:spPr>
          <a:xfrm>
            <a:off x="7863840" y="4014216"/>
            <a:ext cx="3566160" cy="713232"/>
          </a:xfrm>
          <a:prstGeom prst="rect">
            <a:avLst/>
          </a:prstGeom>
          <a:noFill/>
          <a:ln/>
        </p:spPr>
        <p:txBody>
          <a:bodyPr wrap="square" lIns="0" tIns="0" rIns="0" bIns="0" rtlCol="0" anchor="ctr"/>
          <a:lstStyle/>
          <a:p>
            <a:pPr indent="0" marL="0">
              <a:buNone/>
            </a:pPr>
            <a:r>
              <a:rPr lang="en-US" sz="1500" b="1" dirty="0">
                <a:solidFill>
                  <a:srgbClr val="FFFFFF"/>
                </a:solidFill>
              </a:rPr>
              <a:t>Carried inside the transaction</a:t>
            </a:r>
            <a:endParaRPr lang="en-US" sz="1500" dirty="0"/>
          </a:p>
          <a:p>
            <a:pPr indent="0" marL="0">
              <a:buNone/>
            </a:pPr>
            <a:r>
              <a:rPr lang="en-US" sz="1200" dirty="0">
                <a:solidFill>
                  <a:srgbClr val="E2E8F0"/>
                </a:solidFill>
              </a:rPr>
              <a:t>AutoPaid · ProposalCreated · DecisionCommitted</a:t>
            </a:r>
            <a:endParaRPr lang="en-US" sz="1500" dirty="0"/>
          </a:p>
        </p:txBody>
      </p:sp>
      <p:sp>
        <p:nvSpPr>
          <p:cNvPr id="12" name="Shape 9"/>
          <p:cNvSpPr/>
          <p:nvPr/>
        </p:nvSpPr>
        <p:spPr>
          <a:xfrm>
            <a:off x="9509760" y="4809744"/>
            <a:ext cx="274320" cy="210312"/>
          </a:xfrm>
          <a:prstGeom prst="downArrow">
            <a:avLst/>
          </a:prstGeom>
          <a:solidFill>
            <a:srgbClr val="94A3B8"/>
          </a:solidFill>
          <a:ln w="12700">
            <a:solidFill>
              <a:srgbClr val="94A3B8"/>
            </a:solidFill>
            <a:prstDash val="solid"/>
          </a:ln>
        </p:spPr>
      </p:sp>
      <p:sp>
        <p:nvSpPr>
          <p:cNvPr id="13" name="Shape 10"/>
          <p:cNvSpPr/>
          <p:nvPr/>
        </p:nvSpPr>
        <p:spPr>
          <a:xfrm>
            <a:off x="7680960" y="5038344"/>
            <a:ext cx="3931920" cy="868680"/>
          </a:xfrm>
          <a:prstGeom prst="roundRect">
            <a:avLst>
              <a:gd name="adj" fmla="val 10526"/>
            </a:avLst>
          </a:prstGeom>
          <a:solidFill>
            <a:srgbClr val="0F172A"/>
          </a:solidFill>
          <a:ln w="12700">
            <a:solidFill>
              <a:srgbClr val="0F172A"/>
            </a:solidFill>
            <a:prstDash val="solid"/>
          </a:ln>
        </p:spPr>
      </p:sp>
      <p:sp>
        <p:nvSpPr>
          <p:cNvPr id="14" name="Text 11"/>
          <p:cNvSpPr txBox="1"/>
          <p:nvPr/>
        </p:nvSpPr>
        <p:spPr>
          <a:xfrm>
            <a:off x="7863840" y="5129784"/>
            <a:ext cx="3566160" cy="713232"/>
          </a:xfrm>
          <a:prstGeom prst="rect">
            <a:avLst/>
          </a:prstGeom>
          <a:noFill/>
          <a:ln/>
        </p:spPr>
        <p:txBody>
          <a:bodyPr wrap="square" lIns="0" tIns="0" rIns="0" bIns="0" rtlCol="0" anchor="ctr"/>
          <a:lstStyle/>
          <a:p>
            <a:pPr indent="0" marL="0">
              <a:buNone/>
            </a:pPr>
            <a:r>
              <a:rPr lang="en-US" sz="1500" b="1" dirty="0">
                <a:solidFill>
                  <a:srgbClr val="FFFFFF"/>
                </a:solidFill>
              </a:rPr>
              <a:t>verify()</a:t>
            </a:r>
            <a:endParaRPr lang="en-US" sz="1500" dirty="0"/>
          </a:p>
          <a:p>
            <a:pPr indent="0" marL="0">
              <a:buNone/>
            </a:pPr>
            <a:r>
              <a:rPr lang="en-US" sz="1200" dirty="0">
                <a:solidFill>
                  <a:srgbClr val="E2E8F0"/>
                </a:solidFill>
              </a:rPr>
              <a:t>recompute every hash, check the chain</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75569"/>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1188720"/>
          </a:xfrm>
          <a:prstGeom prst="rect">
            <a:avLst/>
          </a:prstGeom>
          <a:noFill/>
          <a:ln/>
        </p:spPr>
        <p:txBody>
          <a:bodyPr wrap="square" lIns="0" tIns="0" rIns="0" bIns="0" rtlCol="0" anchor="ctr"/>
          <a:lstStyle/>
          <a:p>
            <a:pPr indent="0" marL="0">
              <a:buNone/>
            </a:pPr>
            <a:r>
              <a:rPr lang="en-US" sz="3400" b="1" dirty="0">
                <a:solidFill>
                  <a:schemeClr val="tx1"/>
                </a:solidFill>
              </a:rPr>
              <a:t>Mapped to the judging criteria</a:t>
            </a:r>
            <a:endParaRPr lang="en-US" sz="3400" dirty="0"/>
          </a:p>
        </p:txBody>
      </p:sp>
      <p:sp>
        <p:nvSpPr>
          <p:cNvPr id="3" name="crit0"/>
          <p:cNvSpPr/>
          <p:nvPr/>
        </p:nvSpPr>
        <p:spPr>
          <a:xfrm>
            <a:off x="548640" y="1691640"/>
            <a:ext cx="3520440" cy="3337560"/>
          </a:xfrm>
          <a:prstGeom prst="roundRect">
            <a:avLst>
              <a:gd name="adj" fmla="val 3288"/>
            </a:avLst>
          </a:prstGeom>
          <a:solidFill>
            <a:srgbClr val="FFFFFF"/>
          </a:solidFill>
          <a:ln w="12700">
            <a:solidFill>
              <a:srgbClr val="E2E8F0"/>
            </a:solidFill>
            <a:prstDash val="solid"/>
          </a:ln>
          <a:effectLst>
            <a:outerShdw sx="100000" sy="100000" kx="0" ky="0" algn="bl" rotWithShape="0" blurRad="76200" dist="25400" dir="5400000">
              <a:srgbClr val="94A3B8">
                <a:alpha val="25000"/>
              </a:srgbClr>
            </a:outerShdw>
          </a:effectLst>
        </p:spPr>
      </p:sp>
      <p:sp>
        <p:nvSpPr>
          <p:cNvPr id="4" name="Shape 2"/>
          <p:cNvSpPr/>
          <p:nvPr/>
        </p:nvSpPr>
        <p:spPr>
          <a:xfrm>
            <a:off x="777240" y="1874520"/>
            <a:ext cx="3063240" cy="548640"/>
          </a:xfrm>
          <a:prstGeom prst="roundRect">
            <a:avLst>
              <a:gd name="adj" fmla="val 13333"/>
            </a:avLst>
          </a:prstGeom>
          <a:solidFill>
            <a:srgbClr val="0F766E"/>
          </a:solidFill>
          <a:ln w="12700">
            <a:solidFill>
              <a:srgbClr val="0F766E"/>
            </a:solidFill>
            <a:prstDash val="solid"/>
          </a:ln>
        </p:spPr>
      </p:sp>
      <p:sp>
        <p:nvSpPr>
          <p:cNvPr id="5" name="Text 3"/>
          <p:cNvSpPr txBox="1"/>
          <p:nvPr/>
        </p:nvSpPr>
        <p:spPr>
          <a:xfrm>
            <a:off x="777240" y="1874520"/>
            <a:ext cx="3063240" cy="548640"/>
          </a:xfrm>
          <a:prstGeom prst="rect">
            <a:avLst/>
          </a:prstGeom>
          <a:noFill/>
          <a:ln/>
        </p:spPr>
        <p:txBody>
          <a:bodyPr wrap="square" lIns="0" tIns="0" rIns="0" bIns="0" rtlCol="0" anchor="ctr"/>
          <a:lstStyle/>
          <a:p>
            <a:pPr algn="ctr" indent="0" marL="0">
              <a:buNone/>
            </a:pPr>
            <a:r>
              <a:rPr lang="en-US" sz="1500" b="1" dirty="0">
                <a:solidFill>
                  <a:srgbClr val="FFFFFF"/>
                </a:solidFill>
              </a:rPr>
              <a:t>Task completion · 40%</a:t>
            </a:r>
            <a:endParaRPr lang="en-US" sz="1500" dirty="0"/>
          </a:p>
        </p:txBody>
      </p:sp>
      <p:sp>
        <p:nvSpPr>
          <p:cNvPr id="6" name="Text 4"/>
          <p:cNvSpPr txBox="1"/>
          <p:nvPr/>
        </p:nvSpPr>
        <p:spPr>
          <a:xfrm>
            <a:off x="822960" y="2606040"/>
            <a:ext cx="3017520" cy="23317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334155"/>
                </a:solidFill>
              </a:rPr>
              <a:t>19/19 legitimate tasks completed end-to-end with real transactions</a:t>
            </a:r>
            <a:endParaRPr lang="en-US" sz="1400" dirty="0"/>
          </a:p>
          <a:p>
            <a:pPr marL="342900" indent="-342900">
              <a:spcAft>
                <a:spcPts val="800"/>
              </a:spcAft>
              <a:buSzPct val="100000"/>
              <a:buChar char="•"/>
            </a:pPr>
            <a:r>
              <a:rPr lang="en-US" sz="1400" dirty="0">
                <a:solidFill>
                  <a:srgbClr val="334155"/>
                </a:solidFill>
              </a:rPr>
              <a:t>Invoices in EN/ID, text and PDF; maker-checker; recurring; treasury; chat</a:t>
            </a:r>
            <a:endParaRPr lang="en-US" sz="1400" dirty="0"/>
          </a:p>
          <a:p>
            <a:pPr marL="342900" indent="-342900">
              <a:spcAft>
                <a:spcPts val="800"/>
              </a:spcAft>
              <a:buSzPct val="100000"/>
              <a:buChar char="•"/>
            </a:pPr>
            <a:r>
              <a:rPr lang="en-US" sz="1400" dirty="0">
                <a:solidFill>
                  <a:srgbClr val="334155"/>
                </a:solidFill>
              </a:rPr>
              <a:t>Public-testnet execution log with transaction hashes</a:t>
            </a:r>
            <a:endParaRPr lang="en-US" sz="1400" dirty="0"/>
          </a:p>
        </p:txBody>
      </p:sp>
      <p:sp>
        <p:nvSpPr>
          <p:cNvPr id="7" name="crit1"/>
          <p:cNvSpPr/>
          <p:nvPr/>
        </p:nvSpPr>
        <p:spPr>
          <a:xfrm>
            <a:off x="4297680" y="1691640"/>
            <a:ext cx="3520440" cy="3337560"/>
          </a:xfrm>
          <a:prstGeom prst="roundRect">
            <a:avLst>
              <a:gd name="adj" fmla="val 3288"/>
            </a:avLst>
          </a:prstGeom>
          <a:solidFill>
            <a:srgbClr val="FFFFFF"/>
          </a:solidFill>
          <a:ln w="12700">
            <a:solidFill>
              <a:srgbClr val="E2E8F0"/>
            </a:solidFill>
            <a:prstDash val="solid"/>
          </a:ln>
          <a:effectLst>
            <a:outerShdw sx="100000" sy="100000" kx="0" ky="0" algn="bl" rotWithShape="0" blurRad="76200" dist="25400" dir="5400000">
              <a:srgbClr val="94A3B8">
                <a:alpha val="25000"/>
              </a:srgbClr>
            </a:outerShdw>
          </a:effectLst>
        </p:spPr>
      </p:sp>
      <p:sp>
        <p:nvSpPr>
          <p:cNvPr id="8" name="Shape 6"/>
          <p:cNvSpPr/>
          <p:nvPr/>
        </p:nvSpPr>
        <p:spPr>
          <a:xfrm>
            <a:off x="4526280" y="1874520"/>
            <a:ext cx="3063240" cy="548640"/>
          </a:xfrm>
          <a:prstGeom prst="roundRect">
            <a:avLst>
              <a:gd name="adj" fmla="val 13333"/>
            </a:avLst>
          </a:prstGeom>
          <a:solidFill>
            <a:srgbClr val="B91C1C"/>
          </a:solidFill>
          <a:ln w="12700">
            <a:solidFill>
              <a:srgbClr val="B91C1C"/>
            </a:solidFill>
            <a:prstDash val="solid"/>
          </a:ln>
        </p:spPr>
      </p:sp>
      <p:sp>
        <p:nvSpPr>
          <p:cNvPr id="9" name="Text 7"/>
          <p:cNvSpPr txBox="1"/>
          <p:nvPr/>
        </p:nvSpPr>
        <p:spPr>
          <a:xfrm>
            <a:off x="4526280" y="1874520"/>
            <a:ext cx="3063240" cy="548640"/>
          </a:xfrm>
          <a:prstGeom prst="rect">
            <a:avLst/>
          </a:prstGeom>
          <a:noFill/>
          <a:ln/>
        </p:spPr>
        <p:txBody>
          <a:bodyPr wrap="square" lIns="0" tIns="0" rIns="0" bIns="0" rtlCol="0" anchor="ctr"/>
          <a:lstStyle/>
          <a:p>
            <a:pPr algn="ctr" indent="0" marL="0">
              <a:buNone/>
            </a:pPr>
            <a:r>
              <a:rPr lang="en-US" sz="1500" b="1" dirty="0">
                <a:solidFill>
                  <a:srgbClr val="FFFFFF"/>
                </a:solidFill>
              </a:rPr>
              <a:t>Security &amp; compliance · 30%</a:t>
            </a:r>
            <a:endParaRPr lang="en-US" sz="1500" dirty="0"/>
          </a:p>
        </p:txBody>
      </p:sp>
      <p:sp>
        <p:nvSpPr>
          <p:cNvPr id="10" name="Text 8"/>
          <p:cNvSpPr txBox="1"/>
          <p:nvPr/>
        </p:nvSpPr>
        <p:spPr>
          <a:xfrm>
            <a:off x="4572000" y="2606040"/>
            <a:ext cx="3017520" cy="23317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334155"/>
                </a:solidFill>
              </a:rPr>
              <a:t>Three independent layers; four permission tiers enforced on-chain</a:t>
            </a:r>
            <a:endParaRPr lang="en-US" sz="1400" dirty="0"/>
          </a:p>
          <a:p>
            <a:pPr marL="342900" indent="-342900">
              <a:spcAft>
                <a:spcPts val="800"/>
              </a:spcAft>
              <a:buSzPct val="100000"/>
              <a:buChar char="•"/>
            </a:pPr>
            <a:r>
              <a:rPr lang="en-US" sz="1400" dirty="0">
                <a:solidFill>
                  <a:srgbClr val="334155"/>
                </a:solidFill>
              </a:rPr>
              <a:t>23/23 attacks stopped, including a stolen agent key</a:t>
            </a:r>
            <a:endParaRPr lang="en-US" sz="1400" dirty="0"/>
          </a:p>
          <a:p>
            <a:pPr marL="342900" indent="-342900">
              <a:spcAft>
                <a:spcPts val="800"/>
              </a:spcAft>
              <a:buSzPct val="100000"/>
              <a:buChar char="•"/>
            </a:pPr>
            <a:r>
              <a:rPr lang="en-US" sz="1400" dirty="0">
                <a:solidFill>
                  <a:srgbClr val="334155"/>
                </a:solidFill>
              </a:rPr>
              <a:t>Fuzz-proven invariants; honest risk register in the self-assessment</a:t>
            </a:r>
            <a:endParaRPr lang="en-US" sz="1400" dirty="0"/>
          </a:p>
        </p:txBody>
      </p:sp>
      <p:sp>
        <p:nvSpPr>
          <p:cNvPr id="11" name="crit2"/>
          <p:cNvSpPr/>
          <p:nvPr/>
        </p:nvSpPr>
        <p:spPr>
          <a:xfrm>
            <a:off x="8046720" y="1691640"/>
            <a:ext cx="3520440" cy="3337560"/>
          </a:xfrm>
          <a:prstGeom prst="roundRect">
            <a:avLst>
              <a:gd name="adj" fmla="val 3288"/>
            </a:avLst>
          </a:prstGeom>
          <a:solidFill>
            <a:srgbClr val="FFFFFF"/>
          </a:solidFill>
          <a:ln w="12700">
            <a:solidFill>
              <a:srgbClr val="E2E8F0"/>
            </a:solidFill>
            <a:prstDash val="solid"/>
          </a:ln>
          <a:effectLst>
            <a:outerShdw sx="100000" sy="100000" kx="0" ky="0" algn="bl" rotWithShape="0" blurRad="76200" dist="25400" dir="5400000">
              <a:srgbClr val="94A3B8">
                <a:alpha val="25000"/>
              </a:srgbClr>
            </a:outerShdw>
          </a:effectLst>
        </p:spPr>
      </p:sp>
      <p:sp>
        <p:nvSpPr>
          <p:cNvPr id="12" name="Shape 10"/>
          <p:cNvSpPr/>
          <p:nvPr/>
        </p:nvSpPr>
        <p:spPr>
          <a:xfrm>
            <a:off x="8275320" y="1874520"/>
            <a:ext cx="3063240" cy="548640"/>
          </a:xfrm>
          <a:prstGeom prst="roundRect">
            <a:avLst>
              <a:gd name="adj" fmla="val 13333"/>
            </a:avLst>
          </a:prstGeom>
          <a:solidFill>
            <a:srgbClr val="1D4ED8"/>
          </a:solidFill>
          <a:ln w="12700">
            <a:solidFill>
              <a:srgbClr val="1D4ED8"/>
            </a:solidFill>
            <a:prstDash val="solid"/>
          </a:ln>
        </p:spPr>
      </p:sp>
      <p:sp>
        <p:nvSpPr>
          <p:cNvPr id="13" name="Text 11"/>
          <p:cNvSpPr txBox="1"/>
          <p:nvPr/>
        </p:nvSpPr>
        <p:spPr>
          <a:xfrm>
            <a:off x="8275320" y="1874520"/>
            <a:ext cx="3063240" cy="548640"/>
          </a:xfrm>
          <a:prstGeom prst="rect">
            <a:avLst/>
          </a:prstGeom>
          <a:noFill/>
          <a:ln/>
        </p:spPr>
        <p:txBody>
          <a:bodyPr wrap="square" lIns="0" tIns="0" rIns="0" bIns="0" rtlCol="0" anchor="ctr"/>
          <a:lstStyle/>
          <a:p>
            <a:pPr algn="ctr" indent="0" marL="0">
              <a:buNone/>
            </a:pPr>
            <a:r>
              <a:rPr lang="en-US" sz="1500" b="1" dirty="0">
                <a:solidFill>
                  <a:srgbClr val="FFFFFF"/>
                </a:solidFill>
              </a:rPr>
              <a:t>Innovation &amp; interaction · 30%</a:t>
            </a:r>
            <a:endParaRPr lang="en-US" sz="1500" dirty="0"/>
          </a:p>
        </p:txBody>
      </p:sp>
      <p:sp>
        <p:nvSpPr>
          <p:cNvPr id="14" name="Text 12"/>
          <p:cNvSpPr txBox="1"/>
          <p:nvPr/>
        </p:nvSpPr>
        <p:spPr>
          <a:xfrm>
            <a:off x="8321040" y="2606040"/>
            <a:ext cx="3017520" cy="23317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334155"/>
                </a:solidFill>
              </a:rPr>
              <a:t>Decision hashes anchored on-chain: verifiable AI</a:t>
            </a:r>
            <a:endParaRPr lang="en-US" sz="1400" dirty="0"/>
          </a:p>
          <a:p>
            <a:pPr marL="342900" indent="-342900">
              <a:spcAft>
                <a:spcPts val="800"/>
              </a:spcAft>
              <a:buSzPct val="100000"/>
              <a:buChar char="•"/>
            </a:pPr>
            <a:r>
              <a:rPr lang="en-US" sz="1400" dirty="0">
                <a:solidFill>
                  <a:srgbClr val="334155"/>
                </a:solidFill>
              </a:rPr>
              <a:t>Bilingual chat for Indonesian SMEs; one-click red-team and audit</a:t>
            </a:r>
            <a:endParaRPr lang="en-US" sz="1400" dirty="0"/>
          </a:p>
          <a:p>
            <a:pPr marL="342900" indent="-342900">
              <a:spcAft>
                <a:spcPts val="800"/>
              </a:spcAft>
              <a:buSzPct val="100000"/>
              <a:buChar char="•"/>
            </a:pPr>
            <a:r>
              <a:rPr lang="en-US" sz="1400" dirty="0">
                <a:solidFill>
                  <a:srgbClr val="334155"/>
                </a:solidFill>
              </a:rPr>
              <a:t>Works with any OpenAI-compatible model, including DeepSeek and Qwen</a:t>
            </a:r>
            <a:endParaRPr lang="en-US" sz="1400" dirty="0"/>
          </a:p>
        </p:txBody>
      </p:sp>
      <p:sp>
        <p:nvSpPr>
          <p:cNvPr id="15" name="bonus"/>
          <p:cNvSpPr/>
          <p:nvPr/>
        </p:nvSpPr>
        <p:spPr>
          <a:xfrm>
            <a:off x="548640" y="5257800"/>
            <a:ext cx="11064240" cy="914400"/>
          </a:xfrm>
          <a:prstGeom prst="roundRect">
            <a:avLst>
              <a:gd name="adj" fmla="val 12000"/>
            </a:avLst>
          </a:prstGeom>
          <a:solidFill>
            <a:srgbClr val="F1F5F9"/>
          </a:solidFill>
          <a:ln w="12700">
            <a:solidFill>
              <a:srgbClr val="E2E8F0"/>
            </a:solidFill>
            <a:prstDash val="solid"/>
          </a:ln>
          <a:effectLst>
            <a:outerShdw sx="100000" sy="100000" kx="0" ky="0" algn="bl" rotWithShape="0" blurRad="76200" dist="25400" dir="5400000">
              <a:srgbClr val="94A3B8">
                <a:alpha val="25000"/>
              </a:srgbClr>
            </a:outerShdw>
          </a:effectLst>
        </p:spPr>
      </p:sp>
      <p:sp>
        <p:nvSpPr>
          <p:cNvPr id="16" name="Text 14"/>
          <p:cNvSpPr txBox="1"/>
          <p:nvPr/>
        </p:nvSpPr>
        <p:spPr>
          <a:xfrm>
            <a:off x="822960" y="5349240"/>
            <a:ext cx="10515600" cy="731520"/>
          </a:xfrm>
          <a:prstGeom prst="rect">
            <a:avLst/>
          </a:prstGeom>
          <a:noFill/>
          <a:ln/>
        </p:spPr>
        <p:txBody>
          <a:bodyPr wrap="square" lIns="0" tIns="0" rIns="0" bIns="0" rtlCol="0" anchor="ctr"/>
          <a:lstStyle/>
          <a:p>
            <a:pPr indent="0" marL="0">
              <a:buNone/>
            </a:pPr>
            <a:r>
              <a:rPr lang="en-US" sz="1500" b="1" dirty="0">
                <a:solidFill>
                  <a:srgbClr val="0F766E"/>
                </a:solidFill>
              </a:rPr>
              <a:t>On-chain challenge bonus:  </a:t>
            </a:r>
            <a:pPr indent="0" marL="0">
              <a:buNone/>
            </a:pPr>
            <a:r>
              <a:rPr lang="en-US" sz="1500" dirty="0">
                <a:solidFill>
                  <a:srgbClr val="0F172A"/>
                </a:solidFill>
              </a:rPr>
              <a:t>custom policy vault + ERC-4626 treasury + on-chain decision anchoring + a stolen-key transaction reverted on a public testnet</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75569"/>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731520" y="914400"/>
            <a:ext cx="10698480" cy="1097280"/>
          </a:xfrm>
          <a:prstGeom prst="rect">
            <a:avLst/>
          </a:prstGeom>
          <a:noFill/>
          <a:ln/>
        </p:spPr>
        <p:txBody>
          <a:bodyPr wrap="square" lIns="0" tIns="0" rIns="0" bIns="0" rtlCol="0"/>
          <a:lstStyle/>
          <a:p>
            <a:pPr indent="0" marL="0">
              <a:buNone/>
            </a:pPr>
            <a:r>
              <a:rPr lang="en-US" sz="4800" b="1" dirty="0">
                <a:solidFill>
                  <a:schemeClr val="bg1"/>
                </a:solidFill>
              </a:rPr>
              <a:t>Autonomy you can verify</a:t>
            </a:r>
            <a:endParaRPr lang="en-US" sz="4800" dirty="0"/>
          </a:p>
        </p:txBody>
      </p:sp>
      <p:sp>
        <p:nvSpPr>
          <p:cNvPr id="3" name="Shape 1"/>
          <p:cNvSpPr/>
          <p:nvPr/>
        </p:nvSpPr>
        <p:spPr>
          <a:xfrm>
            <a:off x="731520" y="2450592"/>
            <a:ext cx="502920" cy="502920"/>
          </a:xfrm>
          <a:prstGeom prst="ellipse">
            <a:avLst/>
          </a:prstGeom>
          <a:solidFill>
            <a:srgbClr val="14B8A6"/>
          </a:solidFill>
          <a:ln w="12700">
            <a:solidFill>
              <a:srgbClr val="14B8A6"/>
            </a:solidFill>
            <a:prstDash val="solid"/>
          </a:ln>
        </p:spPr>
      </p:sp>
      <p:sp>
        <p:nvSpPr>
          <p:cNvPr id="4" name="Text 2"/>
          <p:cNvSpPr txBox="1"/>
          <p:nvPr/>
        </p:nvSpPr>
        <p:spPr>
          <a:xfrm>
            <a:off x="731520" y="2450592"/>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5" name="Text 3"/>
          <p:cNvSpPr txBox="1"/>
          <p:nvPr/>
        </p:nvSpPr>
        <p:spPr>
          <a:xfrm>
            <a:off x="1463040" y="2377440"/>
            <a:ext cx="9875520" cy="685800"/>
          </a:xfrm>
          <a:prstGeom prst="rect">
            <a:avLst/>
          </a:prstGeom>
          <a:noFill/>
          <a:ln/>
        </p:spPr>
        <p:txBody>
          <a:bodyPr wrap="square" lIns="0" tIns="0" rIns="0" bIns="0" rtlCol="0" anchor="ctr"/>
          <a:lstStyle/>
          <a:p>
            <a:pPr indent="0" marL="0">
              <a:buNone/>
            </a:pPr>
            <a:r>
              <a:rPr lang="en-US" sz="1800" b="1" dirty="0">
                <a:solidFill>
                  <a:srgbClr val="FFFFFF"/>
                </a:solidFill>
              </a:rPr>
              <a:t>Production path   </a:t>
            </a:r>
            <a:pPr indent="0" marL="0">
              <a:buNone/>
            </a:pPr>
            <a:r>
              <a:rPr lang="en-US" sz="1800" dirty="0">
                <a:solidFill>
                  <a:srgbClr val="CBD5E1"/>
                </a:solidFill>
              </a:rPr>
              <a:t>multisig owner + session keys · live sanctions feeds · OCR and e-invoices</a:t>
            </a:r>
            <a:endParaRPr lang="en-US" sz="1800" dirty="0"/>
          </a:p>
        </p:txBody>
      </p:sp>
      <p:sp>
        <p:nvSpPr>
          <p:cNvPr id="6" name="Shape 4"/>
          <p:cNvSpPr/>
          <p:nvPr/>
        </p:nvSpPr>
        <p:spPr>
          <a:xfrm>
            <a:off x="731520" y="3410712"/>
            <a:ext cx="502920" cy="502920"/>
          </a:xfrm>
          <a:prstGeom prst="ellipse">
            <a:avLst/>
          </a:prstGeom>
          <a:solidFill>
            <a:srgbClr val="14B8A6"/>
          </a:solidFill>
          <a:ln w="12700">
            <a:solidFill>
              <a:srgbClr val="14B8A6"/>
            </a:solidFill>
            <a:prstDash val="solid"/>
          </a:ln>
        </p:spPr>
      </p:sp>
      <p:sp>
        <p:nvSpPr>
          <p:cNvPr id="7" name="Text 5"/>
          <p:cNvSpPr txBox="1"/>
          <p:nvPr/>
        </p:nvSpPr>
        <p:spPr>
          <a:xfrm>
            <a:off x="731520" y="3410712"/>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8" name="Text 6"/>
          <p:cNvSpPr txBox="1"/>
          <p:nvPr/>
        </p:nvSpPr>
        <p:spPr>
          <a:xfrm>
            <a:off x="1463040" y="3337560"/>
            <a:ext cx="9875520" cy="685800"/>
          </a:xfrm>
          <a:prstGeom prst="rect">
            <a:avLst/>
          </a:prstGeom>
          <a:noFill/>
          <a:ln/>
        </p:spPr>
        <p:txBody>
          <a:bodyPr wrap="square" lIns="0" tIns="0" rIns="0" bIns="0" rtlCol="0" anchor="ctr"/>
          <a:lstStyle/>
          <a:p>
            <a:pPr indent="0" marL="0">
              <a:buNone/>
            </a:pPr>
            <a:r>
              <a:rPr lang="en-US" sz="1800" b="1" dirty="0">
                <a:solidFill>
                  <a:srgbClr val="FFFFFF"/>
                </a:solidFill>
              </a:rPr>
              <a:t>Settlement   </a:t>
            </a:r>
            <a:pPr indent="0" marL="0">
              <a:buNone/>
            </a:pPr>
            <a:r>
              <a:rPr lang="en-US" sz="1800" dirty="0">
                <a:solidFill>
                  <a:srgbClr val="CBD5E1"/>
                </a:solidFill>
              </a:rPr>
              <a:t>tokenized deposits or licensed stablecoins on permissioned EVM chains (e.g. FISCO BCOS)</a:t>
            </a:r>
            <a:endParaRPr lang="en-US" sz="1800" dirty="0"/>
          </a:p>
        </p:txBody>
      </p:sp>
      <p:sp>
        <p:nvSpPr>
          <p:cNvPr id="9" name="Shape 7"/>
          <p:cNvSpPr/>
          <p:nvPr/>
        </p:nvSpPr>
        <p:spPr>
          <a:xfrm>
            <a:off x="731520" y="4370832"/>
            <a:ext cx="502920" cy="502920"/>
          </a:xfrm>
          <a:prstGeom prst="ellipse">
            <a:avLst/>
          </a:prstGeom>
          <a:solidFill>
            <a:srgbClr val="14B8A6"/>
          </a:solidFill>
          <a:ln w="12700">
            <a:solidFill>
              <a:srgbClr val="14B8A6"/>
            </a:solidFill>
            <a:prstDash val="solid"/>
          </a:ln>
        </p:spPr>
      </p:sp>
      <p:sp>
        <p:nvSpPr>
          <p:cNvPr id="10" name="Text 8"/>
          <p:cNvSpPr txBox="1"/>
          <p:nvPr/>
        </p:nvSpPr>
        <p:spPr>
          <a:xfrm>
            <a:off x="731520" y="4370832"/>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1" name="Text 9"/>
          <p:cNvSpPr txBox="1"/>
          <p:nvPr/>
        </p:nvSpPr>
        <p:spPr>
          <a:xfrm>
            <a:off x="1463040" y="4297680"/>
            <a:ext cx="9875520" cy="685800"/>
          </a:xfrm>
          <a:prstGeom prst="rect">
            <a:avLst/>
          </a:prstGeom>
          <a:noFill/>
          <a:ln/>
        </p:spPr>
        <p:txBody>
          <a:bodyPr wrap="square" lIns="0" tIns="0" rIns="0" bIns="0" rtlCol="0" anchor="ctr"/>
          <a:lstStyle/>
          <a:p>
            <a:pPr indent="0" marL="0">
              <a:buNone/>
            </a:pPr>
            <a:r>
              <a:rPr lang="en-US" sz="1800" b="1" dirty="0">
                <a:solidFill>
                  <a:srgbClr val="FFFFFF"/>
                </a:solidFill>
              </a:rPr>
              <a:t>Pilot   </a:t>
            </a:r>
            <a:pPr indent="0" marL="0">
              <a:buNone/>
            </a:pPr>
            <a:r>
              <a:rPr lang="en-US" sz="1800" dirty="0">
                <a:solidFill>
                  <a:srgbClr val="CBD5E1"/>
                </a:solidFill>
              </a:rPr>
              <a:t>cross-border SMEs in Indonesia, Singapore and Shenzhen</a:t>
            </a:r>
            <a:endParaRPr lang="en-US" sz="1800" dirty="0"/>
          </a:p>
        </p:txBody>
      </p:sp>
      <p:sp>
        <p:nvSpPr>
          <p:cNvPr id="12" name="Text 10"/>
          <p:cNvSpPr txBox="1"/>
          <p:nvPr/>
        </p:nvSpPr>
        <p:spPr>
          <a:xfrm>
            <a:off x="731520" y="5532120"/>
            <a:ext cx="7315200" cy="411480"/>
          </a:xfrm>
          <a:prstGeom prst="rect">
            <a:avLst/>
          </a:prstGeom>
          <a:noFill/>
          <a:ln/>
        </p:spPr>
        <p:txBody>
          <a:bodyPr wrap="square" lIns="0" tIns="0" rIns="0" bIns="0" rtlCol="0" anchor="t"/>
          <a:lstStyle/>
          <a:p>
            <a:pPr indent="0" marL="0">
              <a:buNone/>
            </a:pPr>
            <a:r>
              <a:rPr lang="en-US" sz="1700" b="1" dirty="0">
                <a:solidFill>
                  <a:srgbClr val="5EEAD4"/>
                </a:solidFill>
              </a:rPr>
              <a:t>Thank you — Team [TEAM NAME] · Institut Teknologi Bandung</a:t>
            </a:r>
            <a:endParaRPr lang="en-US" sz="1700" dirty="0"/>
          </a:p>
        </p:txBody>
      </p:sp>
      <p:sp>
        <p:nvSpPr>
          <p:cNvPr id="13" name="Text 11"/>
          <p:cNvSpPr txBox="1"/>
          <p:nvPr/>
        </p:nvSpPr>
        <p:spPr>
          <a:xfrm>
            <a:off x="731520" y="5943600"/>
            <a:ext cx="7315200" cy="365760"/>
          </a:xfrm>
          <a:prstGeom prst="rect">
            <a:avLst/>
          </a:prstGeom>
          <a:noFill/>
          <a:ln/>
        </p:spPr>
        <p:txBody>
          <a:bodyPr wrap="square" lIns="0" tIns="0" rIns="0" bIns="0" rtlCol="0" anchor="t"/>
          <a:lstStyle/>
          <a:p>
            <a:pPr indent="0" marL="0">
              <a:buNone/>
            </a:pPr>
            <a:r>
              <a:rPr lang="en-US" sz="1400" dirty="0">
                <a:solidFill>
                  <a:srgbClr val="94A3B8"/>
                </a:solidFill>
              </a:rPr>
              <a:t>Code, evaluation and evidence: github.com/[team]/kendali</a:t>
            </a:r>
            <a:endParaRPr lang="en-US" sz="1400" dirty="0"/>
          </a:p>
        </p:txBody>
      </p:sp>
    </p:spTree>
  </p:cSld>
  <p:clrMapOvr>
    <a:masterClrMapping/>
  </p:clrMapOvr>
</p:sld>
</file>

<file path=ppt/theme/theme1.xml><?xml version="1.0" encoding="utf-8"?>
<a:theme xmlns:a="http://schemas.openxmlformats.org/drawingml/2006/main" name="Kendali">
  <a:themeElements>
    <a:clrScheme name="Kendali">
      <a:dk1>
        <a:srgbClr val="0F172A"/>
      </a:dk1>
      <a:lt1>
        <a:srgbClr val="FFFFFF"/>
      </a:lt1>
      <a:dk2>
        <a:srgbClr val="134E4A"/>
      </a:dk2>
      <a:lt2>
        <a:srgbClr val="F1F5F9"/>
      </a:lt2>
      <a:accent1>
        <a:srgbClr val="0F766E"/>
      </a:accent1>
      <a:accent2>
        <a:srgbClr val="B45309"/>
      </a:accent2>
      <a:accent3>
        <a:srgbClr val="B91C1C"/>
      </a:accent3>
      <a:accent4>
        <a:srgbClr val="1D4ED8"/>
      </a:accent4>
      <a:accent5>
        <a:srgbClr val="475569"/>
      </a:accent5>
      <a:accent6>
        <a:srgbClr val="14B8A6"/>
      </a:accent6>
      <a:hlink>
        <a:srgbClr val="0F766E"/>
      </a:hlink>
      <a:folHlink>
        <a:srgbClr val="115E59"/>
      </a:folHlink>
    </a:clrScheme>
    <a:fontScheme name="Kendali">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Kendali — FinTechathon 2026</dc:title>
  <dc:subject>PptxGenJS Presentation</dc:subject>
  <dc:creator>Team Kendali</dc:creator>
  <cp:lastModifiedBy>Team Kendali</cp:lastModifiedBy>
  <cp:revision>1</cp:revision>
  <dcterms:created xsi:type="dcterms:W3CDTF">2026-10-09T12:40:34Z</dcterms:created>
  <dcterms:modified xsi:type="dcterms:W3CDTF">2026-10-09T12:40:34Z</dcterms:modified>
</cp:coreProperties>
</file>